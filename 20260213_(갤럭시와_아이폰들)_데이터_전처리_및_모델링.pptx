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86" r:id="rId4"/>
    <p:sldId id="272" r:id="rId5"/>
    <p:sldId id="288" r:id="rId6"/>
    <p:sldId id="285" r:id="rId7"/>
    <p:sldId id="287" r:id="rId8"/>
    <p:sldId id="289" r:id="rId9"/>
    <p:sldId id="291" r:id="rId10"/>
    <p:sldId id="290" r:id="rId11"/>
    <p:sldId id="292" r:id="rId12"/>
    <p:sldId id="293" r:id="rId13"/>
    <p:sldId id="294" r:id="rId14"/>
    <p:sldId id="295" r:id="rId15"/>
    <p:sldId id="296" r:id="rId16"/>
    <p:sldId id="297" r:id="rId17"/>
    <p:sldId id="301" r:id="rId18"/>
    <p:sldId id="300" r:id="rId19"/>
    <p:sldId id="302" r:id="rId20"/>
    <p:sldId id="298" r:id="rId21"/>
    <p:sldId id="303" r:id="rId22"/>
    <p:sldId id="299" r:id="rId23"/>
    <p:sldId id="304" r:id="rId24"/>
    <p:sldId id="274" r:id="rId25"/>
    <p:sldId id="257" r:id="rId26"/>
    <p:sldId id="266" r:id="rId27"/>
    <p:sldId id="258" r:id="rId28"/>
    <p:sldId id="259" r:id="rId29"/>
    <p:sldId id="260" r:id="rId30"/>
    <p:sldId id="261" r:id="rId31"/>
    <p:sldId id="262" r:id="rId32"/>
    <p:sldId id="267" r:id="rId33"/>
    <p:sldId id="263" r:id="rId34"/>
    <p:sldId id="264" r:id="rId35"/>
    <p:sldId id="265" r:id="rId36"/>
    <p:sldId id="275" r:id="rId37"/>
    <p:sldId id="276" r:id="rId38"/>
    <p:sldId id="277" r:id="rId39"/>
    <p:sldId id="278" r:id="rId40"/>
    <p:sldId id="279" r:id="rId41"/>
    <p:sldId id="280" r:id="rId42"/>
    <p:sldId id="281" r:id="rId43"/>
    <p:sldId id="282" r:id="rId44"/>
    <p:sldId id="283" r:id="rId45"/>
    <p:sldId id="284" r:id="rId46"/>
    <p:sldId id="306" r:id="rId47"/>
    <p:sldId id="310" r:id="rId48"/>
    <p:sldId id="309" r:id="rId49"/>
    <p:sldId id="308" r:id="rId50"/>
    <p:sldId id="307" r:id="rId51"/>
    <p:sldId id="311" r:id="rId52"/>
    <p:sldId id="305" r:id="rId53"/>
    <p:sldId id="312" r:id="rId5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F3C9AF-5B47-4EBF-A1F6-66A5D9BC9FF4}" v="420" dt="2026-02-12T07:26:28.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14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D0EA63-9E96-2C8F-DB78-1CD0E1818DB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C66D491A-360E-9CDA-15E3-8148E6EC0D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45D427D-C813-949F-7E68-44283C40A67C}"/>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5" name="바닥글 개체 틀 4">
            <a:extLst>
              <a:ext uri="{FF2B5EF4-FFF2-40B4-BE49-F238E27FC236}">
                <a16:creationId xmlns:a16="http://schemas.microsoft.com/office/drawing/2014/main" id="{D45F2701-E0F6-28B7-F6CE-9CDB4F369E3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F4D11B9-1B09-A125-E0A8-CB20C690BFE1}"/>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3811007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0B0389-8C7B-CCFF-C39A-8F94C2EAF56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A68BB9E-CA48-18A6-075E-C40246ADD8CF}"/>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0C32478-4826-F599-FD79-DEA627746BA2}"/>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5" name="바닥글 개체 틀 4">
            <a:extLst>
              <a:ext uri="{FF2B5EF4-FFF2-40B4-BE49-F238E27FC236}">
                <a16:creationId xmlns:a16="http://schemas.microsoft.com/office/drawing/2014/main" id="{C0E503B3-C5D7-C76A-B7F9-B129D1E3B38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9C5F55F-F27A-93C2-A76A-55FEF48370B9}"/>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4208572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1ADCC3-26DC-3B8C-E263-1BBE09BA7DC8}"/>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2BC7E0E-3214-98E6-0DCA-C728F78FED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25D9C83-3D00-6426-9F68-F689E329397A}"/>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5" name="바닥글 개체 틀 4">
            <a:extLst>
              <a:ext uri="{FF2B5EF4-FFF2-40B4-BE49-F238E27FC236}">
                <a16:creationId xmlns:a16="http://schemas.microsoft.com/office/drawing/2014/main" id="{3903FE1E-7FD4-B272-E5EB-1190B152C31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AACB207-4833-0936-7390-7DE1A59B511E}"/>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3136159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5D22C4A-96FD-4462-502B-771573DE5CF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3CDD5FA-7F45-6A91-468A-0A5021C4CAE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2578739-0969-0E83-9302-0D64ECEBF187}"/>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088EF3D6-AA4F-03A0-4D34-64B42365D7C1}"/>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6" name="바닥글 개체 틀 5">
            <a:extLst>
              <a:ext uri="{FF2B5EF4-FFF2-40B4-BE49-F238E27FC236}">
                <a16:creationId xmlns:a16="http://schemas.microsoft.com/office/drawing/2014/main" id="{15451448-A009-0AAA-A5C4-FB9E372E355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149CA44-7884-A54B-B12E-884B2C2A8CDF}"/>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2681191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1E955C-6BF1-DA8F-810A-4D9BF0D8585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906ABC2-06A4-A56F-3B78-3F7D4A75E3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A454223A-BC1F-F157-F6E6-837C88383ED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26E1DEA-A484-1135-AF10-18F3DF8F33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0E9CBE95-2611-3607-696D-83FC91122EB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AF62FC3-C9A9-655D-B9DF-BDD4DFAC3F33}"/>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8" name="바닥글 개체 틀 7">
            <a:extLst>
              <a:ext uri="{FF2B5EF4-FFF2-40B4-BE49-F238E27FC236}">
                <a16:creationId xmlns:a16="http://schemas.microsoft.com/office/drawing/2014/main" id="{273E9E1E-A258-D210-4A1B-35D7E371CFA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3FF1BA6D-412D-2B6F-B295-C76F8B9D3F9B}"/>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4081829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C282EEB-BC43-A3D8-E7EF-9C2FE22D6EE5}"/>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2A0010A-FBFF-028E-07B4-5B93015A6992}"/>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4" name="바닥글 개체 틀 3">
            <a:extLst>
              <a:ext uri="{FF2B5EF4-FFF2-40B4-BE49-F238E27FC236}">
                <a16:creationId xmlns:a16="http://schemas.microsoft.com/office/drawing/2014/main" id="{4E3D7229-472E-78CB-64AF-DF30A97594BE}"/>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4EF77B6-D317-76AE-4691-E18D9FEB162D}"/>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958900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D484809-0B09-1B47-0CFC-B9D8128E621D}"/>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3" name="바닥글 개체 틀 2">
            <a:extLst>
              <a:ext uri="{FF2B5EF4-FFF2-40B4-BE49-F238E27FC236}">
                <a16:creationId xmlns:a16="http://schemas.microsoft.com/office/drawing/2014/main" id="{7C882939-4840-72BB-FF71-99028E74DEC4}"/>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8B3BF198-2AA7-3457-7FF1-41ABB25E8853}"/>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2833769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29338DA-C802-6502-F3B3-D429B07CECF7}"/>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42E61A81-7607-3D6A-DAE5-8B9D2E0662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C9EBB9BE-B283-9F91-7FF7-064F8B4808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A759D82F-3968-DBBA-341B-785C7FDE90DA}"/>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6" name="바닥글 개체 틀 5">
            <a:extLst>
              <a:ext uri="{FF2B5EF4-FFF2-40B4-BE49-F238E27FC236}">
                <a16:creationId xmlns:a16="http://schemas.microsoft.com/office/drawing/2014/main" id="{AA404011-9455-96CD-BBBB-97596ADB926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E93A9C7-075E-BD4A-C238-B3A4F55D09BA}"/>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2451922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0523EF0-4943-1D01-8E7B-B3880D3BC2A9}"/>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08EFB860-26D9-C953-88EA-1965B77291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D162B0D9-98EE-1DAB-DB87-A54A3976C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93B96AA-9CD0-4093-904C-1D25FB414E39}"/>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6" name="바닥글 개체 틀 5">
            <a:extLst>
              <a:ext uri="{FF2B5EF4-FFF2-40B4-BE49-F238E27FC236}">
                <a16:creationId xmlns:a16="http://schemas.microsoft.com/office/drawing/2014/main" id="{093474C9-7479-28CA-F5E2-96447C87F64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C3B428A-7713-AA19-779C-1DAA82C72DAE}"/>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52114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9400CF-2D58-6291-2513-9BF7F37EFEE4}"/>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B9A685E-3ED9-7E18-D413-1CE701A39818}"/>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DCF3893-5D5B-7465-90BC-C24CBD768BB7}"/>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5" name="바닥글 개체 틀 4">
            <a:extLst>
              <a:ext uri="{FF2B5EF4-FFF2-40B4-BE49-F238E27FC236}">
                <a16:creationId xmlns:a16="http://schemas.microsoft.com/office/drawing/2014/main" id="{28F156E0-36A6-0B15-C04C-08AEF970F44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B8D935-B70F-F603-9B14-79564658AB01}"/>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2798943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78D1828C-519B-40CE-101D-A61F6C4C2982}"/>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4CCB683-DB11-AAD6-171E-C65272CF1DC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FA7FACE-5C2B-2A29-B422-604DD08346C4}"/>
              </a:ext>
            </a:extLst>
          </p:cNvPr>
          <p:cNvSpPr>
            <a:spLocks noGrp="1"/>
          </p:cNvSpPr>
          <p:nvPr>
            <p:ph type="dt" sz="half" idx="10"/>
          </p:nvPr>
        </p:nvSpPr>
        <p:spPr/>
        <p:txBody>
          <a:bodyPr/>
          <a:lstStyle/>
          <a:p>
            <a:fld id="{2570B074-A72E-4785-91C6-6009DCE989EF}" type="datetimeFigureOut">
              <a:rPr lang="ko-KR" altLang="en-US" smtClean="0"/>
              <a:t>2026-02-12</a:t>
            </a:fld>
            <a:endParaRPr lang="ko-KR" altLang="en-US"/>
          </a:p>
        </p:txBody>
      </p:sp>
      <p:sp>
        <p:nvSpPr>
          <p:cNvPr id="5" name="바닥글 개체 틀 4">
            <a:extLst>
              <a:ext uri="{FF2B5EF4-FFF2-40B4-BE49-F238E27FC236}">
                <a16:creationId xmlns:a16="http://schemas.microsoft.com/office/drawing/2014/main" id="{2CB079EB-C108-1AF1-EEBE-31F619B5107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2669B9F-D1D8-1B5E-7509-186D63F8D677}"/>
              </a:ext>
            </a:extLst>
          </p:cNvPr>
          <p:cNvSpPr>
            <a:spLocks noGrp="1"/>
          </p:cNvSpPr>
          <p:nvPr>
            <p:ph type="sldNum" sz="quarter" idx="12"/>
          </p:nvPr>
        </p:nvSpPr>
        <p:spPr/>
        <p:txBody>
          <a:body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4158390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C5EB525-CEE6-CDA7-24FB-1DE78BD54E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01DE2AD6-1F70-9690-76F8-59371A5AB0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E75717A-CEB1-3E52-E5B4-44BBAE2F7D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70B074-A72E-4785-91C6-6009DCE989EF}" type="datetimeFigureOut">
              <a:rPr lang="ko-KR" altLang="en-US" smtClean="0"/>
              <a:t>2026-02-12</a:t>
            </a:fld>
            <a:endParaRPr lang="ko-KR" altLang="en-US"/>
          </a:p>
        </p:txBody>
      </p:sp>
      <p:sp>
        <p:nvSpPr>
          <p:cNvPr id="5" name="바닥글 개체 틀 4">
            <a:extLst>
              <a:ext uri="{FF2B5EF4-FFF2-40B4-BE49-F238E27FC236}">
                <a16:creationId xmlns:a16="http://schemas.microsoft.com/office/drawing/2014/main" id="{8CD6B0EF-7116-B06A-C78F-5D9569A566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F6DDE839-51CC-B0ED-18B8-A82F47E505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A78BB5-4101-4762-A943-D967F64454BE}" type="slidenum">
              <a:rPr lang="ko-KR" altLang="en-US" smtClean="0"/>
              <a:t>‹#›</a:t>
            </a:fld>
            <a:endParaRPr lang="ko-KR" altLang="en-US"/>
          </a:p>
        </p:txBody>
      </p:sp>
    </p:spTree>
    <p:extLst>
      <p:ext uri="{BB962C8B-B14F-4D97-AF65-F5344CB8AC3E}">
        <p14:creationId xmlns:p14="http://schemas.microsoft.com/office/powerpoint/2010/main" val="765504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제목 1">
            <a:extLst>
              <a:ext uri="{FF2B5EF4-FFF2-40B4-BE49-F238E27FC236}">
                <a16:creationId xmlns:a16="http://schemas.microsoft.com/office/drawing/2014/main" id="{C993D060-57A8-40B5-9477-8C9E3CA1762A}"/>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pPr algn="r" latinLnBrk="0"/>
            <a:r>
              <a:rPr lang="ko-KR" altLang="en-US" sz="5400" dirty="0">
                <a:solidFill>
                  <a:schemeClr val="bg1">
                    <a:lumMod val="95000"/>
                    <a:lumOff val="5000"/>
                  </a:schemeClr>
                </a:solidFill>
              </a:rPr>
              <a:t>보험료 데이터 분석 및</a:t>
            </a:r>
            <a:br>
              <a:rPr lang="en-US" altLang="ko-KR" sz="5400" dirty="0">
                <a:solidFill>
                  <a:schemeClr val="bg1">
                    <a:lumMod val="95000"/>
                    <a:lumOff val="5000"/>
                  </a:schemeClr>
                </a:solidFill>
              </a:rPr>
            </a:br>
            <a:r>
              <a:rPr lang="ko-KR" altLang="en-US" sz="5400" dirty="0">
                <a:solidFill>
                  <a:schemeClr val="bg1">
                    <a:lumMod val="95000"/>
                    <a:lumOff val="5000"/>
                  </a:schemeClr>
                </a:solidFill>
              </a:rPr>
              <a:t>보험료 예측 모델링</a:t>
            </a:r>
          </a:p>
        </p:txBody>
      </p:sp>
    </p:spTree>
    <p:extLst>
      <p:ext uri="{BB962C8B-B14F-4D97-AF65-F5344CB8AC3E}">
        <p14:creationId xmlns:p14="http://schemas.microsoft.com/office/powerpoint/2010/main" val="331680026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91A01B-211E-4EB0-46C4-D720D9B60275}"/>
              </a:ext>
            </a:extLst>
          </p:cNvPr>
          <p:cNvSpPr>
            <a:spLocks noGrp="1"/>
          </p:cNvSpPr>
          <p:nvPr>
            <p:ph type="title"/>
          </p:nvPr>
        </p:nvSpPr>
        <p:spPr/>
        <p:txBody>
          <a:bodyPr/>
          <a:lstStyle/>
          <a:p>
            <a:r>
              <a:rPr lang="ko-KR" altLang="en-US" dirty="0"/>
              <a:t>목차</a:t>
            </a:r>
          </a:p>
        </p:txBody>
      </p:sp>
      <p:sp>
        <p:nvSpPr>
          <p:cNvPr id="3" name="내용 개체 틀 2">
            <a:extLst>
              <a:ext uri="{FF2B5EF4-FFF2-40B4-BE49-F238E27FC236}">
                <a16:creationId xmlns:a16="http://schemas.microsoft.com/office/drawing/2014/main" id="{002C55F8-0ED7-4126-55A0-B9F3A11B7D64}"/>
              </a:ext>
            </a:extLst>
          </p:cNvPr>
          <p:cNvSpPr>
            <a:spLocks noGrp="1"/>
          </p:cNvSpPr>
          <p:nvPr>
            <p:ph idx="1"/>
          </p:nvPr>
        </p:nvSpPr>
        <p:spPr/>
        <p:txBody>
          <a:bodyPr>
            <a:normAutofit lnSpcReduction="10000"/>
          </a:bodyPr>
          <a:lstStyle/>
          <a:p>
            <a:r>
              <a:rPr lang="ko-KR" altLang="en-US" dirty="0" err="1"/>
              <a:t>들어가기전에</a:t>
            </a:r>
            <a:r>
              <a:rPr lang="en-US" altLang="ko-KR" dirty="0"/>
              <a:t>..</a:t>
            </a:r>
          </a:p>
          <a:p>
            <a:endParaRPr lang="en-US" altLang="ko-KR" dirty="0"/>
          </a:p>
          <a:p>
            <a:r>
              <a:rPr lang="ko-KR" altLang="en-US" dirty="0" err="1"/>
              <a:t>데이처</a:t>
            </a:r>
            <a:r>
              <a:rPr lang="ko-KR" altLang="en-US" dirty="0"/>
              <a:t> 분석</a:t>
            </a:r>
            <a:endParaRPr lang="en-US" altLang="ko-KR" dirty="0"/>
          </a:p>
          <a:p>
            <a:endParaRPr lang="en-US" altLang="ko-KR" dirty="0"/>
          </a:p>
          <a:p>
            <a:r>
              <a:rPr lang="ko-KR" altLang="en-US" dirty="0"/>
              <a:t>일반적인 데이터 전처리와 모델링</a:t>
            </a:r>
            <a:endParaRPr lang="en-US" altLang="ko-KR" dirty="0"/>
          </a:p>
          <a:p>
            <a:endParaRPr lang="en-US" altLang="ko-KR" dirty="0"/>
          </a:p>
          <a:p>
            <a:r>
              <a:rPr lang="ko-KR" altLang="en-US" dirty="0"/>
              <a:t>데이터 세분화 이후 </a:t>
            </a:r>
            <a:r>
              <a:rPr lang="ko-KR" altLang="en-US" dirty="0" err="1"/>
              <a:t>전처리</a:t>
            </a:r>
            <a:r>
              <a:rPr lang="en-US" altLang="ko-KR" dirty="0"/>
              <a:t>, </a:t>
            </a:r>
            <a:r>
              <a:rPr lang="ko-KR" altLang="en-US" dirty="0"/>
              <a:t>모델링</a:t>
            </a:r>
            <a:endParaRPr lang="en-US" altLang="ko-KR" dirty="0"/>
          </a:p>
          <a:p>
            <a:endParaRPr lang="en-US" altLang="ko-KR" dirty="0"/>
          </a:p>
          <a:p>
            <a:r>
              <a:rPr lang="ko-KR" altLang="en-US" dirty="0"/>
              <a:t>다른 모델과의 비교</a:t>
            </a:r>
            <a:endParaRPr lang="en-US" altLang="ko-KR" dirty="0"/>
          </a:p>
        </p:txBody>
      </p:sp>
    </p:spTree>
    <p:extLst>
      <p:ext uri="{BB962C8B-B14F-4D97-AF65-F5344CB8AC3E}">
        <p14:creationId xmlns:p14="http://schemas.microsoft.com/office/powerpoint/2010/main" val="2696254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431B7A-8C19-242C-AD41-6F74D4F7D79C}"/>
              </a:ext>
            </a:extLst>
          </p:cNvPr>
          <p:cNvSpPr>
            <a:spLocks noGrp="1"/>
          </p:cNvSpPr>
          <p:nvPr>
            <p:ph type="title"/>
          </p:nvPr>
        </p:nvSpPr>
        <p:spPr/>
        <p:txBody>
          <a:bodyPr/>
          <a:lstStyle/>
          <a:p>
            <a:r>
              <a:rPr lang="ko-KR" altLang="en-US" dirty="0"/>
              <a:t>데이터 셋이 바뀐 이유</a:t>
            </a:r>
          </a:p>
        </p:txBody>
      </p:sp>
      <p:sp>
        <p:nvSpPr>
          <p:cNvPr id="3" name="내용 개체 틀 2">
            <a:extLst>
              <a:ext uri="{FF2B5EF4-FFF2-40B4-BE49-F238E27FC236}">
                <a16:creationId xmlns:a16="http://schemas.microsoft.com/office/drawing/2014/main" id="{7E8E7571-B8C1-8F2C-BB2A-F59CB55F6E5F}"/>
              </a:ext>
            </a:extLst>
          </p:cNvPr>
          <p:cNvSpPr>
            <a:spLocks noGrp="1"/>
          </p:cNvSpPr>
          <p:nvPr>
            <p:ph idx="1"/>
          </p:nvPr>
        </p:nvSpPr>
        <p:spPr/>
        <p:txBody>
          <a:bodyPr/>
          <a:lstStyle/>
          <a:p>
            <a:r>
              <a:rPr lang="ko-KR" altLang="en-US" dirty="0"/>
              <a:t>첫 프로젝트인 만큼 데이터를 구분하는 방법을 몰랐음</a:t>
            </a:r>
            <a:endParaRPr lang="en-US" altLang="ko-KR" dirty="0"/>
          </a:p>
          <a:p>
            <a:endParaRPr lang="en-US" altLang="ko-KR" dirty="0"/>
          </a:p>
          <a:p>
            <a:r>
              <a:rPr lang="ko-KR" altLang="en-US" dirty="0"/>
              <a:t>모바일 데이터엔 페이크 데이터</a:t>
            </a:r>
            <a:r>
              <a:rPr lang="en-US" altLang="ko-KR" dirty="0"/>
              <a:t>, </a:t>
            </a:r>
            <a:r>
              <a:rPr lang="ko-KR" altLang="en-US" dirty="0"/>
              <a:t>오류</a:t>
            </a:r>
            <a:r>
              <a:rPr lang="en-US" altLang="ko-KR" dirty="0"/>
              <a:t>, </a:t>
            </a:r>
            <a:r>
              <a:rPr lang="ko-KR" altLang="en-US" dirty="0" err="1"/>
              <a:t>타겟값과</a:t>
            </a:r>
            <a:r>
              <a:rPr lang="ko-KR" altLang="en-US" dirty="0"/>
              <a:t> </a:t>
            </a:r>
            <a:r>
              <a:rPr lang="ko-KR" altLang="en-US" dirty="0" err="1"/>
              <a:t>컬럼간의</a:t>
            </a:r>
            <a:r>
              <a:rPr lang="ko-KR" altLang="en-US" dirty="0"/>
              <a:t> 현실적인 상관지수 오류로 인해 다른 데이터를 검색</a:t>
            </a:r>
            <a:endParaRPr lang="en-US" altLang="ko-KR" dirty="0"/>
          </a:p>
          <a:p>
            <a:endParaRPr lang="en-US" altLang="ko-KR" dirty="0"/>
          </a:p>
          <a:p>
            <a:r>
              <a:rPr lang="ko-KR" altLang="en-US" dirty="0"/>
              <a:t>보험료 측정데이터로 변경했음</a:t>
            </a:r>
          </a:p>
        </p:txBody>
      </p:sp>
    </p:spTree>
    <p:extLst>
      <p:ext uri="{BB962C8B-B14F-4D97-AF65-F5344CB8AC3E}">
        <p14:creationId xmlns:p14="http://schemas.microsoft.com/office/powerpoint/2010/main" val="2934721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24F5DD9-6464-5C68-9D6D-0F1291E63699}"/>
            </a:ext>
          </a:extLst>
        </p:cNvPr>
        <p:cNvGrpSpPr/>
        <p:nvPr/>
      </p:nvGrpSpPr>
      <p:grpSpPr>
        <a:xfrm>
          <a:off x="0" y="0"/>
          <a:ext cx="0" cy="0"/>
          <a:chOff x="0" y="0"/>
          <a:chExt cx="0" cy="0"/>
        </a:xfrm>
      </p:grpSpPr>
      <p:sp>
        <p:nvSpPr>
          <p:cNvPr id="7" name="Freeform: Shape 6">
            <a:extLst>
              <a:ext uri="{FF2B5EF4-FFF2-40B4-BE49-F238E27FC236}">
                <a16:creationId xmlns:a16="http://schemas.microsoft.com/office/drawing/2014/main" id="{5154B453-7DF3-10AF-AFFB-7C45460BE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12DA7630-24F5-FB9E-D37B-86C51DB34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제목 1">
            <a:extLst>
              <a:ext uri="{FF2B5EF4-FFF2-40B4-BE49-F238E27FC236}">
                <a16:creationId xmlns:a16="http://schemas.microsoft.com/office/drawing/2014/main" id="{EFB88DBF-C90D-E3D2-DC19-D26FB2DECD55}"/>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pPr latinLnBrk="0"/>
            <a:r>
              <a:rPr lang="ko-KR" altLang="en-US" sz="5400" dirty="0">
                <a:solidFill>
                  <a:schemeClr val="bg1">
                    <a:lumMod val="95000"/>
                    <a:lumOff val="5000"/>
                  </a:schemeClr>
                </a:solidFill>
              </a:rPr>
              <a:t>데이터 분석</a:t>
            </a:r>
            <a:br>
              <a:rPr lang="en-US" altLang="ko-KR" sz="5400" dirty="0">
                <a:solidFill>
                  <a:schemeClr val="bg1">
                    <a:lumMod val="95000"/>
                    <a:lumOff val="5000"/>
                  </a:schemeClr>
                </a:solidFill>
              </a:rPr>
            </a:br>
            <a:br>
              <a:rPr lang="en-US" altLang="ko-KR" sz="5400" dirty="0">
                <a:solidFill>
                  <a:schemeClr val="bg1">
                    <a:lumMod val="95000"/>
                    <a:lumOff val="5000"/>
                  </a:schemeClr>
                </a:solidFill>
              </a:rPr>
            </a:br>
            <a:br>
              <a:rPr lang="en-US" altLang="ko-KR" sz="5400" dirty="0">
                <a:solidFill>
                  <a:schemeClr val="bg1">
                    <a:lumMod val="95000"/>
                    <a:lumOff val="5000"/>
                  </a:schemeClr>
                </a:solidFill>
              </a:rPr>
            </a:br>
            <a:br>
              <a:rPr lang="en-US" altLang="ko-KR" sz="5400" dirty="0">
                <a:solidFill>
                  <a:schemeClr val="bg1">
                    <a:lumMod val="95000"/>
                    <a:lumOff val="5000"/>
                  </a:schemeClr>
                </a:solidFill>
              </a:rPr>
            </a:br>
            <a:endParaRPr lang="ko-KR" altLang="en-US" sz="5400" dirty="0">
              <a:solidFill>
                <a:schemeClr val="bg1">
                  <a:lumMod val="95000"/>
                  <a:lumOff val="5000"/>
                </a:schemeClr>
              </a:solidFill>
            </a:endParaRPr>
          </a:p>
        </p:txBody>
      </p:sp>
      <p:sp>
        <p:nvSpPr>
          <p:cNvPr id="3" name="TextBox 2">
            <a:extLst>
              <a:ext uri="{FF2B5EF4-FFF2-40B4-BE49-F238E27FC236}">
                <a16:creationId xmlns:a16="http://schemas.microsoft.com/office/drawing/2014/main" id="{BBD0ADAD-7539-766B-3B8A-54AD777A8F60}"/>
              </a:ext>
            </a:extLst>
          </p:cNvPr>
          <p:cNvSpPr txBox="1"/>
          <p:nvPr/>
        </p:nvSpPr>
        <p:spPr>
          <a:xfrm>
            <a:off x="4860260" y="2991678"/>
            <a:ext cx="5432015" cy="2308324"/>
          </a:xfrm>
          <a:prstGeom prst="rect">
            <a:avLst/>
          </a:prstGeom>
          <a:noFill/>
        </p:spPr>
        <p:txBody>
          <a:bodyPr wrap="square" rtlCol="0">
            <a:spAutoFit/>
          </a:bodyPr>
          <a:lstStyle/>
          <a:p>
            <a:r>
              <a:rPr lang="en-US" altLang="ko-KR" sz="2400" dirty="0">
                <a:solidFill>
                  <a:schemeClr val="bg1">
                    <a:lumMod val="95000"/>
                    <a:lumOff val="5000"/>
                  </a:schemeClr>
                </a:solidFill>
              </a:rPr>
              <a:t>-</a:t>
            </a:r>
            <a:r>
              <a:rPr lang="ko-KR" altLang="en-US" sz="2400" dirty="0">
                <a:solidFill>
                  <a:schemeClr val="bg1">
                    <a:lumMod val="95000"/>
                    <a:lumOff val="5000"/>
                  </a:schemeClr>
                </a:solidFill>
              </a:rPr>
              <a:t>전체 데이터 분석</a:t>
            </a:r>
            <a:endParaRPr lang="en-US" altLang="ko-KR" sz="2400" dirty="0">
              <a:solidFill>
                <a:schemeClr val="bg1">
                  <a:lumMod val="95000"/>
                  <a:lumOff val="5000"/>
                </a:schemeClr>
              </a:solidFill>
            </a:endParaRPr>
          </a:p>
          <a:p>
            <a:br>
              <a:rPr lang="en-US" altLang="ko-KR" sz="2400" dirty="0">
                <a:solidFill>
                  <a:schemeClr val="bg1">
                    <a:lumMod val="95000"/>
                    <a:lumOff val="5000"/>
                  </a:schemeClr>
                </a:solidFill>
              </a:rPr>
            </a:br>
            <a:r>
              <a:rPr lang="en-US" altLang="ko-KR" sz="2400" dirty="0">
                <a:solidFill>
                  <a:schemeClr val="bg1">
                    <a:lumMod val="95000"/>
                    <a:lumOff val="5000"/>
                  </a:schemeClr>
                </a:solidFill>
              </a:rPr>
              <a:t>-</a:t>
            </a:r>
            <a:r>
              <a:rPr lang="ko-KR" altLang="en-US" sz="2400" dirty="0">
                <a:solidFill>
                  <a:schemeClr val="bg1">
                    <a:lumMod val="95000"/>
                    <a:lumOff val="5000"/>
                  </a:schemeClr>
                </a:solidFill>
              </a:rPr>
              <a:t>흡연자를 중점으로 본데이터 분석</a:t>
            </a:r>
            <a:endParaRPr lang="en-US" altLang="ko-KR" sz="2400" dirty="0">
              <a:solidFill>
                <a:schemeClr val="bg1">
                  <a:lumMod val="95000"/>
                  <a:lumOff val="5000"/>
                </a:schemeClr>
              </a:solidFill>
            </a:endParaRPr>
          </a:p>
          <a:p>
            <a:br>
              <a:rPr lang="en-US" altLang="ko-KR" sz="2400" dirty="0">
                <a:solidFill>
                  <a:schemeClr val="bg1">
                    <a:lumMod val="95000"/>
                    <a:lumOff val="5000"/>
                  </a:schemeClr>
                </a:solidFill>
              </a:rPr>
            </a:br>
            <a:r>
              <a:rPr lang="en-US" altLang="ko-KR" sz="2400" dirty="0">
                <a:solidFill>
                  <a:schemeClr val="bg1">
                    <a:lumMod val="95000"/>
                    <a:lumOff val="5000"/>
                  </a:schemeClr>
                </a:solidFill>
              </a:rPr>
              <a:t>-</a:t>
            </a:r>
            <a:r>
              <a:rPr lang="ko-KR" altLang="en-US" sz="2400" dirty="0">
                <a:solidFill>
                  <a:schemeClr val="bg1">
                    <a:lumMod val="95000"/>
                    <a:lumOff val="5000"/>
                  </a:schemeClr>
                </a:solidFill>
              </a:rPr>
              <a:t>비 흡연자를 중점으로 본 데이터 분석</a:t>
            </a:r>
            <a:br>
              <a:rPr lang="en-US" altLang="ko-KR" sz="2400" dirty="0">
                <a:solidFill>
                  <a:schemeClr val="bg1">
                    <a:lumMod val="95000"/>
                    <a:lumOff val="5000"/>
                  </a:schemeClr>
                </a:solidFill>
              </a:rPr>
            </a:br>
            <a:endParaRPr lang="ko-KR" altLang="en-US" sz="2400" dirty="0"/>
          </a:p>
        </p:txBody>
      </p:sp>
    </p:spTree>
    <p:extLst>
      <p:ext uri="{BB962C8B-B14F-4D97-AF65-F5344CB8AC3E}">
        <p14:creationId xmlns:p14="http://schemas.microsoft.com/office/powerpoint/2010/main" val="264322405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1ED8F26D-6162-C359-60F8-51A9E0B50CB3}"/>
              </a:ext>
            </a:extLst>
          </p:cNvPr>
          <p:cNvSpPr txBox="1">
            <a:spLocks/>
          </p:cNvSpPr>
          <p:nvPr/>
        </p:nvSpPr>
        <p:spPr>
          <a:xfrm>
            <a:off x="838200" y="2266662"/>
            <a:ext cx="10515600" cy="13255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b="1" dirty="0"/>
              <a:t>charges</a:t>
            </a:r>
            <a:r>
              <a:rPr lang="ko-KR" altLang="en-US" b="1" dirty="0"/>
              <a:t>와 상관관계를 </a:t>
            </a:r>
            <a:r>
              <a:rPr lang="en-US" altLang="ko-KR" b="1" dirty="0"/>
              <a:t>Scatterplot </a:t>
            </a:r>
            <a:r>
              <a:rPr lang="ko-KR" altLang="en-US" b="1" dirty="0"/>
              <a:t>으로 보기</a:t>
            </a:r>
            <a:endParaRPr lang="ko-KR" altLang="en-US" dirty="0"/>
          </a:p>
        </p:txBody>
      </p:sp>
    </p:spTree>
    <p:extLst>
      <p:ext uri="{BB962C8B-B14F-4D97-AF65-F5344CB8AC3E}">
        <p14:creationId xmlns:p14="http://schemas.microsoft.com/office/powerpoint/2010/main" val="1771403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1443A7-74E8-5781-9664-38386146307F}"/>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0A38E5B6-9549-DF3B-4B31-7B7F625CDF14}"/>
              </a:ext>
            </a:extLst>
          </p:cNvPr>
          <p:cNvSpPr>
            <a:spLocks noGrp="1"/>
          </p:cNvSpPr>
          <p:nvPr>
            <p:ph idx="1"/>
          </p:nvPr>
        </p:nvSpPr>
        <p:spPr/>
        <p:txBody>
          <a:bodyPr/>
          <a:lstStyle/>
          <a:p>
            <a:endParaRPr lang="ko-KR" altLang="en-US"/>
          </a:p>
        </p:txBody>
      </p:sp>
      <p:pic>
        <p:nvPicPr>
          <p:cNvPr id="1026" name="Picture 2">
            <a:extLst>
              <a:ext uri="{FF2B5EF4-FFF2-40B4-BE49-F238E27FC236}">
                <a16:creationId xmlns:a16="http://schemas.microsoft.com/office/drawing/2014/main" id="{806EAFC9-E017-AAF8-C6C9-691411142C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225"/>
            <a:ext cx="12192000" cy="6813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506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ACD72D-DC74-391B-695E-4F05353CF095}"/>
              </a:ext>
            </a:extLst>
          </p:cNvPr>
          <p:cNvSpPr>
            <a:spLocks noGrp="1"/>
          </p:cNvSpPr>
          <p:nvPr>
            <p:ph type="title"/>
          </p:nvPr>
        </p:nvSpPr>
        <p:spPr>
          <a:xfrm>
            <a:off x="838200" y="2766218"/>
            <a:ext cx="10515600" cy="1325563"/>
          </a:xfrm>
        </p:spPr>
        <p:txBody>
          <a:bodyPr>
            <a:normAutofit/>
          </a:bodyPr>
          <a:lstStyle/>
          <a:p>
            <a:r>
              <a:rPr lang="en-US" altLang="ko-KR" b="1" dirty="0"/>
              <a:t>charges/</a:t>
            </a:r>
            <a:r>
              <a:rPr lang="en-US" altLang="ko-KR" b="1" dirty="0" err="1"/>
              <a:t>bmi</a:t>
            </a:r>
            <a:r>
              <a:rPr lang="en-US" altLang="ko-KR" b="1" dirty="0"/>
              <a:t>/age/smoke </a:t>
            </a:r>
            <a:r>
              <a:rPr lang="ko-KR" altLang="en-US" b="1" dirty="0" err="1"/>
              <a:t>산점도</a:t>
            </a:r>
            <a:r>
              <a:rPr lang="ko-KR" altLang="en-US" b="1" dirty="0"/>
              <a:t> 한눈에 보기</a:t>
            </a:r>
            <a:endParaRPr lang="ko-KR" altLang="en-US" dirty="0"/>
          </a:p>
        </p:txBody>
      </p:sp>
    </p:spTree>
    <p:extLst>
      <p:ext uri="{BB962C8B-B14F-4D97-AF65-F5344CB8AC3E}">
        <p14:creationId xmlns:p14="http://schemas.microsoft.com/office/powerpoint/2010/main" val="2998870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EAC92B8C-AB94-BEA0-520A-7E7D3DEDA0D6}"/>
              </a:ext>
            </a:extLst>
          </p:cNvPr>
          <p:cNvSpPr>
            <a:spLocks noGrp="1"/>
          </p:cNvSpPr>
          <p:nvPr>
            <p:ph idx="1"/>
          </p:nvPr>
        </p:nvSpPr>
        <p:spPr>
          <a:xfrm>
            <a:off x="1676400" y="805068"/>
            <a:ext cx="10515600" cy="1376363"/>
          </a:xfrm>
        </p:spPr>
        <p:txBody>
          <a:bodyPr/>
          <a:lstStyle/>
          <a:p>
            <a:pPr algn="r"/>
            <a:r>
              <a:rPr lang="ko-KR" altLang="en-US" b="1" dirty="0"/>
              <a:t>원의 크기는 </a:t>
            </a:r>
            <a:r>
              <a:rPr lang="en-US" altLang="ko-KR" b="1" dirty="0" err="1"/>
              <a:t>bmi</a:t>
            </a:r>
            <a:r>
              <a:rPr lang="ko-KR" altLang="en-US" b="1" dirty="0"/>
              <a:t>수치</a:t>
            </a:r>
          </a:p>
          <a:p>
            <a:pPr algn="r"/>
            <a:endParaRPr lang="ko-KR" altLang="en-US" dirty="0"/>
          </a:p>
        </p:txBody>
      </p:sp>
      <p:pic>
        <p:nvPicPr>
          <p:cNvPr id="2050" name="Picture 2">
            <a:extLst>
              <a:ext uri="{FF2B5EF4-FFF2-40B4-BE49-F238E27FC236}">
                <a16:creationId xmlns:a16="http://schemas.microsoft.com/office/drawing/2014/main" id="{97D147E6-B885-7A68-95ED-C9BE1714D8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785" y="157162"/>
            <a:ext cx="8115300" cy="654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176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CA58F1B-FB9E-7A90-D3B7-2EAED4FE251F}"/>
              </a:ext>
            </a:extLst>
          </p:cNvPr>
          <p:cNvSpPr>
            <a:spLocks noGrp="1"/>
          </p:cNvSpPr>
          <p:nvPr>
            <p:ph type="title"/>
          </p:nvPr>
        </p:nvSpPr>
        <p:spPr>
          <a:xfrm>
            <a:off x="838200" y="2766218"/>
            <a:ext cx="10515600" cy="1325563"/>
          </a:xfrm>
        </p:spPr>
        <p:txBody>
          <a:bodyPr/>
          <a:lstStyle/>
          <a:p>
            <a:r>
              <a:rPr lang="ko-KR" altLang="en-US" dirty="0"/>
              <a:t>각 </a:t>
            </a:r>
            <a:r>
              <a:rPr lang="ko-KR" altLang="en-US" dirty="0" err="1"/>
              <a:t>수치형특성</a:t>
            </a:r>
            <a:r>
              <a:rPr lang="ko-KR" altLang="en-US" dirty="0"/>
              <a:t> 분포도 확인</a:t>
            </a:r>
          </a:p>
        </p:txBody>
      </p:sp>
    </p:spTree>
    <p:extLst>
      <p:ext uri="{BB962C8B-B14F-4D97-AF65-F5344CB8AC3E}">
        <p14:creationId xmlns:p14="http://schemas.microsoft.com/office/powerpoint/2010/main" val="2263681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6" name="Picture 10">
            <a:extLst>
              <a:ext uri="{FF2B5EF4-FFF2-40B4-BE49-F238E27FC236}">
                <a16:creationId xmlns:a16="http://schemas.microsoft.com/office/drawing/2014/main" id="{32B2394F-5104-730E-BD9F-D50966DFB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138" y="0"/>
            <a:ext cx="110077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046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5D0C21-8D17-1865-9AFB-A31A6D2FA8A0}"/>
              </a:ext>
            </a:extLst>
          </p:cNvPr>
          <p:cNvSpPr>
            <a:spLocks noGrp="1"/>
          </p:cNvSpPr>
          <p:nvPr>
            <p:ph type="title"/>
          </p:nvPr>
        </p:nvSpPr>
        <p:spPr>
          <a:xfrm>
            <a:off x="838200" y="2766218"/>
            <a:ext cx="10515600" cy="1325563"/>
          </a:xfrm>
        </p:spPr>
        <p:txBody>
          <a:bodyPr>
            <a:normAutofit/>
          </a:bodyPr>
          <a:lstStyle/>
          <a:p>
            <a:pPr fontAlgn="base"/>
            <a:r>
              <a:rPr lang="en-US" altLang="ko-KR" b="1" dirty="0"/>
              <a:t>smoker / </a:t>
            </a:r>
            <a:r>
              <a:rPr lang="en-US" altLang="ko-KR" b="1" dirty="0" err="1"/>
              <a:t>non_smoker</a:t>
            </a:r>
            <a:r>
              <a:rPr lang="en-US" altLang="ko-KR" b="1" dirty="0"/>
              <a:t> </a:t>
            </a:r>
            <a:r>
              <a:rPr lang="ko-KR" altLang="en-US" b="1" dirty="0"/>
              <a:t>한눈에 보기 </a:t>
            </a:r>
            <a:r>
              <a:rPr lang="en-US" altLang="ko-KR" b="1" dirty="0" err="1"/>
              <a:t>histplot</a:t>
            </a:r>
            <a:r>
              <a:rPr lang="ko-KR" altLang="en-US" b="1" dirty="0"/>
              <a:t>이용하여 시각화</a:t>
            </a:r>
            <a:endParaRPr lang="ko-KR" altLang="en-US" dirty="0"/>
          </a:p>
        </p:txBody>
      </p:sp>
    </p:spTree>
    <p:extLst>
      <p:ext uri="{BB962C8B-B14F-4D97-AF65-F5344CB8AC3E}">
        <p14:creationId xmlns:p14="http://schemas.microsoft.com/office/powerpoint/2010/main" val="3246008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E1F40A-AE7C-B656-E1D9-2E4EEC945A1D}"/>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8943649D-4E16-0845-8045-944D41DB2871}"/>
              </a:ext>
            </a:extLst>
          </p:cNvPr>
          <p:cNvSpPr>
            <a:spLocks noGrp="1"/>
          </p:cNvSpPr>
          <p:nvPr>
            <p:ph idx="1"/>
          </p:nvPr>
        </p:nvSpPr>
        <p:spPr/>
        <p:txBody>
          <a:bodyPr/>
          <a:lstStyle/>
          <a:p>
            <a:endParaRPr lang="ko-KR" altLang="en-US"/>
          </a:p>
        </p:txBody>
      </p:sp>
      <p:pic>
        <p:nvPicPr>
          <p:cNvPr id="5122" name="Picture 2">
            <a:extLst>
              <a:ext uri="{FF2B5EF4-FFF2-40B4-BE49-F238E27FC236}">
                <a16:creationId xmlns:a16="http://schemas.microsoft.com/office/drawing/2014/main" id="{381EAAD7-CBD7-B994-307E-AA36BB78C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680" y="0"/>
            <a:ext cx="9075555" cy="6770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127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390375D-34F9-D90B-5DE1-ABB0E7624EBA}"/>
              </a:ext>
            </a:extLst>
          </p:cNvPr>
          <p:cNvSpPr>
            <a:spLocks noGrp="1"/>
          </p:cNvSpPr>
          <p:nvPr>
            <p:ph type="title"/>
          </p:nvPr>
        </p:nvSpPr>
        <p:spPr>
          <a:xfrm>
            <a:off x="838200" y="2766218"/>
            <a:ext cx="10515600" cy="1325563"/>
          </a:xfrm>
        </p:spPr>
        <p:txBody>
          <a:bodyPr/>
          <a:lstStyle/>
          <a:p>
            <a:pPr fontAlgn="base"/>
            <a:r>
              <a:rPr lang="en-US" altLang="ko-KR" b="1"/>
              <a:t>children </a:t>
            </a:r>
            <a:r>
              <a:rPr lang="ko-KR" altLang="en-US" b="1"/>
              <a:t>과 </a:t>
            </a:r>
            <a:r>
              <a:rPr lang="en-US" altLang="ko-KR" b="1"/>
              <a:t>charges</a:t>
            </a:r>
            <a:r>
              <a:rPr lang="ko-KR" altLang="en-US" b="1"/>
              <a:t>를 흡연자</a:t>
            </a:r>
            <a:r>
              <a:rPr lang="en-US" altLang="ko-KR" b="1"/>
              <a:t>/</a:t>
            </a:r>
            <a:r>
              <a:rPr lang="ko-KR" altLang="en-US" b="1"/>
              <a:t>비흡연자로 구분하여 확인하기</a:t>
            </a:r>
          </a:p>
        </p:txBody>
      </p:sp>
    </p:spTree>
    <p:extLst>
      <p:ext uri="{BB962C8B-B14F-4D97-AF65-F5344CB8AC3E}">
        <p14:creationId xmlns:p14="http://schemas.microsoft.com/office/powerpoint/2010/main" val="3834724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882A8C-D264-3A43-D3EE-74DDA164D9C0}"/>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0E9DC7F5-DD68-9C87-B76E-E2FE21AFE94C}"/>
              </a:ext>
            </a:extLst>
          </p:cNvPr>
          <p:cNvSpPr>
            <a:spLocks noGrp="1"/>
          </p:cNvSpPr>
          <p:nvPr>
            <p:ph idx="1"/>
          </p:nvPr>
        </p:nvSpPr>
        <p:spPr/>
        <p:txBody>
          <a:bodyPr/>
          <a:lstStyle/>
          <a:p>
            <a:endParaRPr lang="ko-KR" altLang="en-US"/>
          </a:p>
        </p:txBody>
      </p:sp>
      <p:pic>
        <p:nvPicPr>
          <p:cNvPr id="6146" name="Picture 2">
            <a:extLst>
              <a:ext uri="{FF2B5EF4-FFF2-40B4-BE49-F238E27FC236}">
                <a16:creationId xmlns:a16="http://schemas.microsoft.com/office/drawing/2014/main" id="{361C05FD-613C-350A-7CBC-CE3B92C065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882" y="139355"/>
            <a:ext cx="10594319" cy="6718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569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7FECBE-EA69-B40C-5C3E-CDFBB7CB7A0A}"/>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46BC33A1-9315-AA68-6348-102BD3931437}"/>
              </a:ext>
            </a:extLst>
          </p:cNvPr>
          <p:cNvSpPr>
            <a:spLocks noGrp="1"/>
          </p:cNvSpPr>
          <p:nvPr>
            <p:ph idx="1"/>
          </p:nvPr>
        </p:nvSpPr>
        <p:spPr/>
        <p:txBody>
          <a:bodyPr/>
          <a:lstStyle/>
          <a:p>
            <a:endParaRPr lang="ko-KR" altLang="en-US" dirty="0"/>
          </a:p>
        </p:txBody>
      </p:sp>
      <p:pic>
        <p:nvPicPr>
          <p:cNvPr id="7170" name="Picture 2">
            <a:extLst>
              <a:ext uri="{FF2B5EF4-FFF2-40B4-BE49-F238E27FC236}">
                <a16:creationId xmlns:a16="http://schemas.microsoft.com/office/drawing/2014/main" id="{2C776A0E-039F-211A-F7CE-6B7948966B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7716" y="97114"/>
            <a:ext cx="8421962" cy="6535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62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4EAD0-1CF4-EA41-D635-48DC3E4FD61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384FEFA-DA0C-A97D-D34C-7783A2E8B547}"/>
              </a:ext>
            </a:extLst>
          </p:cNvPr>
          <p:cNvSpPr>
            <a:spLocks noGrp="1"/>
          </p:cNvSpPr>
          <p:nvPr>
            <p:ph type="title"/>
          </p:nvPr>
        </p:nvSpPr>
        <p:spPr>
          <a:xfrm>
            <a:off x="838200" y="2766218"/>
            <a:ext cx="10515600" cy="1325563"/>
          </a:xfrm>
        </p:spPr>
        <p:txBody>
          <a:bodyPr/>
          <a:lstStyle/>
          <a:p>
            <a:pPr fontAlgn="base"/>
            <a:r>
              <a:rPr lang="en-US" altLang="ko-KR" dirty="0"/>
              <a:t>age/</a:t>
            </a:r>
            <a:r>
              <a:rPr lang="en-US" altLang="ko-KR" dirty="0" err="1"/>
              <a:t>bmi</a:t>
            </a:r>
            <a:r>
              <a:rPr lang="en-US" altLang="ko-KR" dirty="0"/>
              <a:t> </a:t>
            </a:r>
            <a:r>
              <a:rPr lang="ko-KR" altLang="en-US" dirty="0" err="1"/>
              <a:t>산점도와</a:t>
            </a:r>
            <a:r>
              <a:rPr lang="ko-KR" altLang="en-US" dirty="0"/>
              <a:t> 회귀선</a:t>
            </a:r>
            <a:endParaRPr lang="ko-KR" altLang="en-US" b="1" dirty="0"/>
          </a:p>
        </p:txBody>
      </p:sp>
    </p:spTree>
    <p:extLst>
      <p:ext uri="{BB962C8B-B14F-4D97-AF65-F5344CB8AC3E}">
        <p14:creationId xmlns:p14="http://schemas.microsoft.com/office/powerpoint/2010/main" val="1002586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479FFC2-A9F3-1857-3116-79E329470F97}"/>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181E9906-4AC5-9568-7912-2CA3F55B1282}"/>
              </a:ext>
            </a:extLst>
          </p:cNvPr>
          <p:cNvSpPr>
            <a:spLocks noGrp="1"/>
          </p:cNvSpPr>
          <p:nvPr>
            <p:ph idx="1"/>
          </p:nvPr>
        </p:nvSpPr>
        <p:spPr/>
        <p:txBody>
          <a:bodyPr/>
          <a:lstStyle/>
          <a:p>
            <a:endParaRPr lang="ko-KR" altLang="en-US"/>
          </a:p>
        </p:txBody>
      </p:sp>
      <p:pic>
        <p:nvPicPr>
          <p:cNvPr id="8194" name="Picture 2">
            <a:extLst>
              <a:ext uri="{FF2B5EF4-FFF2-40B4-BE49-F238E27FC236}">
                <a16:creationId xmlns:a16="http://schemas.microsoft.com/office/drawing/2014/main" id="{807618D6-44CF-4713-824B-63E54DDF34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442" y="0"/>
            <a:ext cx="10219382" cy="6679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064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939A-A2A4-BB5B-6FFC-630C0FAFBA0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1D150A3-DC92-80D4-41F5-019BB55725A3}"/>
              </a:ext>
            </a:extLst>
          </p:cNvPr>
          <p:cNvSpPr>
            <a:spLocks noGrp="1"/>
          </p:cNvSpPr>
          <p:nvPr>
            <p:ph type="title"/>
          </p:nvPr>
        </p:nvSpPr>
        <p:spPr>
          <a:xfrm>
            <a:off x="838200" y="2766218"/>
            <a:ext cx="10515600" cy="1325563"/>
          </a:xfrm>
        </p:spPr>
        <p:txBody>
          <a:bodyPr/>
          <a:lstStyle/>
          <a:p>
            <a:pPr fontAlgn="base"/>
            <a:r>
              <a:rPr lang="en-US" altLang="ko-KR" b="1" dirty="0" err="1"/>
              <a:t>pairplot</a:t>
            </a:r>
            <a:r>
              <a:rPr lang="en-US" altLang="ko-KR" b="1" dirty="0"/>
              <a:t> </a:t>
            </a:r>
            <a:r>
              <a:rPr lang="ko-KR" altLang="en-US" b="1" dirty="0"/>
              <a:t>으로 비흡연자만 각 컬럼별 시각화</a:t>
            </a:r>
          </a:p>
        </p:txBody>
      </p:sp>
    </p:spTree>
    <p:extLst>
      <p:ext uri="{BB962C8B-B14F-4D97-AF65-F5344CB8AC3E}">
        <p14:creationId xmlns:p14="http://schemas.microsoft.com/office/powerpoint/2010/main" val="1025979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77C73B-018E-7F3F-4D6C-D6D65F6616F8}"/>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FF063D8F-578D-9A13-8AF7-6C0FC3A996E9}"/>
              </a:ext>
            </a:extLst>
          </p:cNvPr>
          <p:cNvSpPr>
            <a:spLocks noGrp="1"/>
          </p:cNvSpPr>
          <p:nvPr>
            <p:ph idx="1"/>
          </p:nvPr>
        </p:nvSpPr>
        <p:spPr/>
        <p:txBody>
          <a:bodyPr/>
          <a:lstStyle/>
          <a:p>
            <a:endParaRPr lang="ko-KR" altLang="en-US"/>
          </a:p>
        </p:txBody>
      </p:sp>
      <p:pic>
        <p:nvPicPr>
          <p:cNvPr id="9218" name="Picture 2">
            <a:extLst>
              <a:ext uri="{FF2B5EF4-FFF2-40B4-BE49-F238E27FC236}">
                <a16:creationId xmlns:a16="http://schemas.microsoft.com/office/drawing/2014/main" id="{48015026-5709-1EA8-5469-E4E4A13900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7175" y="0"/>
            <a:ext cx="65960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791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FB09-226B-FA73-E5B8-C16E730112F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0C7CBEB-B9C6-1BA4-E2DC-D140DA757BD5}"/>
              </a:ext>
            </a:extLst>
          </p:cNvPr>
          <p:cNvSpPr>
            <a:spLocks noGrp="1"/>
          </p:cNvSpPr>
          <p:nvPr>
            <p:ph type="title"/>
          </p:nvPr>
        </p:nvSpPr>
        <p:spPr>
          <a:xfrm>
            <a:off x="838200" y="2766218"/>
            <a:ext cx="10515600" cy="1325563"/>
          </a:xfrm>
        </p:spPr>
        <p:txBody>
          <a:bodyPr/>
          <a:lstStyle/>
          <a:p>
            <a:pPr fontAlgn="base"/>
            <a:r>
              <a:rPr lang="ko-KR" altLang="en-US" b="1" dirty="0"/>
              <a:t>비흡연자만 </a:t>
            </a:r>
            <a:r>
              <a:rPr lang="en-US" altLang="ko-KR" b="1" dirty="0"/>
              <a:t>age/</a:t>
            </a:r>
            <a:r>
              <a:rPr lang="en-US" altLang="ko-KR" b="1" dirty="0" err="1"/>
              <a:t>bmi</a:t>
            </a:r>
            <a:r>
              <a:rPr lang="en-US" altLang="ko-KR" b="1" dirty="0"/>
              <a:t>/children/charges </a:t>
            </a:r>
            <a:r>
              <a:rPr lang="ko-KR" altLang="en-US" b="1" dirty="0"/>
              <a:t>분포 확인하기</a:t>
            </a:r>
          </a:p>
        </p:txBody>
      </p:sp>
    </p:spTree>
    <p:extLst>
      <p:ext uri="{BB962C8B-B14F-4D97-AF65-F5344CB8AC3E}">
        <p14:creationId xmlns:p14="http://schemas.microsoft.com/office/powerpoint/2010/main" val="2281725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FE40A9BB-AB80-B4C6-CDBD-49FA7AF1C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163" y="95250"/>
            <a:ext cx="8486775" cy="676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404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97465-6DC5-3AA8-5AE9-9E85538D0EB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ED27C64-4403-6388-F061-1DFF9F2E45CA}"/>
              </a:ext>
            </a:extLst>
          </p:cNvPr>
          <p:cNvSpPr>
            <a:spLocks noGrp="1"/>
          </p:cNvSpPr>
          <p:nvPr>
            <p:ph type="title"/>
          </p:nvPr>
        </p:nvSpPr>
        <p:spPr>
          <a:xfrm>
            <a:off x="838200" y="2766218"/>
            <a:ext cx="10515600" cy="1325563"/>
          </a:xfrm>
        </p:spPr>
        <p:txBody>
          <a:bodyPr>
            <a:normAutofit/>
          </a:bodyPr>
          <a:lstStyle/>
          <a:p>
            <a:pPr fontAlgn="base"/>
            <a:r>
              <a:rPr lang="en-US" altLang="ko-KR" dirty="0"/>
              <a:t>age/charges</a:t>
            </a:r>
            <a:r>
              <a:rPr lang="ko-KR" altLang="en-US" dirty="0"/>
              <a:t>를 </a:t>
            </a:r>
            <a:r>
              <a:rPr lang="en-US" altLang="ko-KR" dirty="0"/>
              <a:t>bmi30</a:t>
            </a:r>
            <a:r>
              <a:rPr lang="ko-KR" altLang="en-US" dirty="0"/>
              <a:t>기준으로 나눈 </a:t>
            </a:r>
            <a:r>
              <a:rPr lang="ko-KR" altLang="en-US" dirty="0" err="1"/>
              <a:t>산점도</a:t>
            </a:r>
            <a:endParaRPr lang="ko-KR" altLang="en-US" b="1" dirty="0"/>
          </a:p>
        </p:txBody>
      </p:sp>
    </p:spTree>
    <p:extLst>
      <p:ext uri="{BB962C8B-B14F-4D97-AF65-F5344CB8AC3E}">
        <p14:creationId xmlns:p14="http://schemas.microsoft.com/office/powerpoint/2010/main" val="1407381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1D688-2DC6-10DE-0D11-C5F0D53E45E0}"/>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7F37D96D-78A0-39D9-780E-C81F4543A2AA}"/>
              </a:ext>
            </a:extLst>
          </p:cNvPr>
          <p:cNvSpPr>
            <a:spLocks noGrp="1"/>
          </p:cNvSpPr>
          <p:nvPr>
            <p:ph idx="1"/>
          </p:nvPr>
        </p:nvSpPr>
        <p:spPr>
          <a:xfrm>
            <a:off x="1676400" y="2506662"/>
            <a:ext cx="10515600" cy="4351338"/>
          </a:xfrm>
        </p:spPr>
        <p:txBody>
          <a:bodyPr/>
          <a:lstStyle/>
          <a:p>
            <a:pPr algn="r"/>
            <a:r>
              <a:rPr lang="ko-KR" altLang="en-US" sz="2000" dirty="0" err="1"/>
              <a:t>빨간점</a:t>
            </a:r>
            <a:r>
              <a:rPr lang="en-US" altLang="ko-KR" sz="2000" dirty="0"/>
              <a:t>= bmi30</a:t>
            </a:r>
            <a:r>
              <a:rPr lang="ko-KR" altLang="en-US" sz="2000" dirty="0"/>
              <a:t>이상</a:t>
            </a:r>
            <a:endParaRPr lang="en-US" altLang="ko-KR" sz="2000" dirty="0"/>
          </a:p>
          <a:p>
            <a:pPr algn="r"/>
            <a:r>
              <a:rPr lang="ko-KR" altLang="en-US" sz="2000" dirty="0" err="1"/>
              <a:t>파란점</a:t>
            </a:r>
            <a:r>
              <a:rPr lang="en-US" altLang="ko-KR" sz="2000" dirty="0"/>
              <a:t>=bmi30</a:t>
            </a:r>
            <a:r>
              <a:rPr lang="ko-KR" altLang="en-US" sz="2000" dirty="0"/>
              <a:t>미만</a:t>
            </a:r>
          </a:p>
          <a:p>
            <a:endParaRPr lang="ko-KR" altLang="en-US" dirty="0"/>
          </a:p>
        </p:txBody>
      </p:sp>
      <p:pic>
        <p:nvPicPr>
          <p:cNvPr id="11266" name="Picture 2">
            <a:extLst>
              <a:ext uri="{FF2B5EF4-FFF2-40B4-BE49-F238E27FC236}">
                <a16:creationId xmlns:a16="http://schemas.microsoft.com/office/drawing/2014/main" id="{3CD7939D-C97F-B60A-22D5-2BDA60BA4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728136" cy="5973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78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CD64465-5A0F-776D-A79C-947EB38345CF}"/>
            </a:ext>
          </a:extLst>
        </p:cNvPr>
        <p:cNvGrpSpPr/>
        <p:nvPr/>
      </p:nvGrpSpPr>
      <p:grpSpPr>
        <a:xfrm>
          <a:off x="0" y="0"/>
          <a:ext cx="0" cy="0"/>
          <a:chOff x="0" y="0"/>
          <a:chExt cx="0" cy="0"/>
        </a:xfrm>
      </p:grpSpPr>
      <p:sp>
        <p:nvSpPr>
          <p:cNvPr id="7" name="Freeform: Shape 6">
            <a:extLst>
              <a:ext uri="{FF2B5EF4-FFF2-40B4-BE49-F238E27FC236}">
                <a16:creationId xmlns:a16="http://schemas.microsoft.com/office/drawing/2014/main" id="{ED1FA6A9-5F52-FBE5-D7C2-3557A831B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54616D65-C85C-24CD-CF37-7D51F2444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제목 1">
            <a:extLst>
              <a:ext uri="{FF2B5EF4-FFF2-40B4-BE49-F238E27FC236}">
                <a16:creationId xmlns:a16="http://schemas.microsoft.com/office/drawing/2014/main" id="{F810323E-336F-5A08-13E7-56A23930DAF4}"/>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pPr latinLnBrk="0"/>
            <a:r>
              <a:rPr lang="ko-KR" altLang="en-US" sz="5400">
                <a:solidFill>
                  <a:schemeClr val="bg1">
                    <a:lumMod val="95000"/>
                    <a:lumOff val="5000"/>
                  </a:schemeClr>
                </a:solidFill>
              </a:rPr>
              <a:t>데이터 전처리</a:t>
            </a:r>
            <a:r>
              <a:rPr lang="en-US" altLang="ko-KR" sz="5400">
                <a:solidFill>
                  <a:schemeClr val="bg1">
                    <a:lumMod val="95000"/>
                    <a:lumOff val="5000"/>
                  </a:schemeClr>
                </a:solidFill>
              </a:rPr>
              <a:t> </a:t>
            </a:r>
            <a:r>
              <a:rPr lang="ko-KR" altLang="en-US" sz="5400">
                <a:solidFill>
                  <a:schemeClr val="bg1">
                    <a:lumMod val="95000"/>
                    <a:lumOff val="5000"/>
                  </a:schemeClr>
                </a:solidFill>
              </a:rPr>
              <a:t>및 모델링</a:t>
            </a:r>
          </a:p>
        </p:txBody>
      </p:sp>
    </p:spTree>
    <p:extLst>
      <p:ext uri="{BB962C8B-B14F-4D97-AF65-F5344CB8AC3E}">
        <p14:creationId xmlns:p14="http://schemas.microsoft.com/office/powerpoint/2010/main" val="10196741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56B6D194-9350-E10D-E714-972E55FE1F4C}"/>
              </a:ext>
            </a:extLst>
          </p:cNvPr>
          <p:cNvSpPr>
            <a:spLocks noGrp="1"/>
          </p:cNvSpPr>
          <p:nvPr>
            <p:ph idx="1"/>
          </p:nvPr>
        </p:nvSpPr>
        <p:spPr>
          <a:xfrm>
            <a:off x="7602011" y="239150"/>
            <a:ext cx="4589989" cy="2983597"/>
          </a:xfrm>
        </p:spPr>
        <p:txBody>
          <a:bodyPr>
            <a:noAutofit/>
          </a:bodyPr>
          <a:lstStyle/>
          <a:p>
            <a:r>
              <a:rPr lang="ko-KR" altLang="en-US" sz="2000" dirty="0"/>
              <a:t>여자 </a:t>
            </a:r>
            <a:r>
              <a:rPr lang="en-US" altLang="ko-KR" sz="2000" dirty="0"/>
              <a:t>= 0, </a:t>
            </a:r>
            <a:r>
              <a:rPr lang="ko-KR" altLang="en-US" sz="2000" dirty="0"/>
              <a:t>남자 </a:t>
            </a:r>
            <a:r>
              <a:rPr lang="en-US" altLang="ko-KR" sz="2000" dirty="0"/>
              <a:t>= 1</a:t>
            </a:r>
          </a:p>
          <a:p>
            <a:pPr marL="0" indent="0">
              <a:buNone/>
            </a:pPr>
            <a:endParaRPr lang="en-US" altLang="ko-KR" sz="2000" dirty="0"/>
          </a:p>
          <a:p>
            <a:r>
              <a:rPr lang="ko-KR" altLang="en-US" sz="2000" dirty="0"/>
              <a:t>흡연 여부 </a:t>
            </a:r>
            <a:r>
              <a:rPr lang="en-US" altLang="ko-KR" sz="2000" dirty="0"/>
              <a:t>: no = 0, yes = 1</a:t>
            </a:r>
          </a:p>
          <a:p>
            <a:pPr marL="0" indent="0">
              <a:buNone/>
            </a:pPr>
            <a:endParaRPr lang="en-US" altLang="ko-KR" sz="2000" dirty="0"/>
          </a:p>
          <a:p>
            <a:r>
              <a:rPr lang="en-US" altLang="ko-KR" sz="1800" dirty="0"/>
              <a:t>Southwest (</a:t>
            </a:r>
            <a:r>
              <a:rPr lang="ko-KR" altLang="en-US" sz="1800" dirty="0"/>
              <a:t>남서부</a:t>
            </a:r>
            <a:r>
              <a:rPr lang="en-US" altLang="ko-KR" sz="1800" dirty="0"/>
              <a:t>), Southeast (</a:t>
            </a:r>
            <a:r>
              <a:rPr lang="ko-KR" altLang="en-US" sz="1800" dirty="0"/>
              <a:t>남동부</a:t>
            </a:r>
            <a:r>
              <a:rPr lang="en-US" altLang="ko-KR" sz="1800" dirty="0"/>
              <a:t>), Northwest (</a:t>
            </a:r>
            <a:r>
              <a:rPr lang="ko-KR" altLang="en-US" sz="1800" dirty="0"/>
              <a:t>북서부</a:t>
            </a:r>
            <a:r>
              <a:rPr lang="en-US" altLang="ko-KR" sz="1800" dirty="0"/>
              <a:t>), Northeast (</a:t>
            </a:r>
            <a:r>
              <a:rPr lang="ko-KR" altLang="en-US" sz="1800" dirty="0"/>
              <a:t>북동부</a:t>
            </a:r>
            <a:r>
              <a:rPr lang="en-US" altLang="ko-KR" sz="1800" dirty="0"/>
              <a:t>) -&gt; 0, 1, 2, 3 </a:t>
            </a:r>
            <a:r>
              <a:rPr lang="ko-KR" altLang="en-US" sz="1800" dirty="0"/>
              <a:t>으로 변환</a:t>
            </a:r>
          </a:p>
          <a:p>
            <a:endParaRPr lang="ko-KR" altLang="en-US" sz="2000" dirty="0"/>
          </a:p>
        </p:txBody>
      </p:sp>
      <p:pic>
        <p:nvPicPr>
          <p:cNvPr id="7" name="그림 6" descr="텍스트, 스크린샷, 소프트웨어, 멀티미디어 소프트웨어이(가) 표시된 사진">
            <a:extLst>
              <a:ext uri="{FF2B5EF4-FFF2-40B4-BE49-F238E27FC236}">
                <a16:creationId xmlns:a16="http://schemas.microsoft.com/office/drawing/2014/main" id="{8B52D2E6-A643-4CEE-0A40-E267C51E9D24}"/>
              </a:ext>
            </a:extLst>
          </p:cNvPr>
          <p:cNvPicPr>
            <a:picLocks noChangeAspect="1"/>
          </p:cNvPicPr>
          <p:nvPr/>
        </p:nvPicPr>
        <p:blipFill>
          <a:blip r:embed="rId2"/>
          <a:stretch>
            <a:fillRect/>
          </a:stretch>
        </p:blipFill>
        <p:spPr>
          <a:xfrm>
            <a:off x="0" y="0"/>
            <a:ext cx="7602011" cy="4477375"/>
          </a:xfrm>
          <a:prstGeom prst="rect">
            <a:avLst/>
          </a:prstGeom>
        </p:spPr>
      </p:pic>
      <p:sp>
        <p:nvSpPr>
          <p:cNvPr id="8" name="내용 개체 틀 2">
            <a:extLst>
              <a:ext uri="{FF2B5EF4-FFF2-40B4-BE49-F238E27FC236}">
                <a16:creationId xmlns:a16="http://schemas.microsoft.com/office/drawing/2014/main" id="{4B00205A-E126-2911-6C4F-98DE083FFF0A}"/>
              </a:ext>
            </a:extLst>
          </p:cNvPr>
          <p:cNvSpPr txBox="1">
            <a:spLocks/>
          </p:cNvSpPr>
          <p:nvPr/>
        </p:nvSpPr>
        <p:spPr>
          <a:xfrm>
            <a:off x="326670" y="4903254"/>
            <a:ext cx="10547656" cy="2983597"/>
          </a:xfrm>
          <a:prstGeom prst="rect">
            <a:avLst/>
          </a:prstGeom>
        </p:spPr>
        <p:txBody>
          <a:bodyPr vert="horz" lIns="91440" tIns="45720" rIns="91440" bIns="45720" rtlCol="0">
            <a:noAutofit/>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ko-KR" altLang="en-US" dirty="0" err="1"/>
              <a:t>머신러닝</a:t>
            </a:r>
            <a:r>
              <a:rPr lang="ko-KR" altLang="en-US" dirty="0"/>
              <a:t> 모델은 문자열을 이해하지 못하므로</a:t>
            </a:r>
            <a:r>
              <a:rPr lang="en-US" altLang="ko-KR" dirty="0"/>
              <a:t>, </a:t>
            </a:r>
            <a:r>
              <a:rPr lang="ko-KR" altLang="en-US" dirty="0"/>
              <a:t>범주형 데이터를 숫자로 변환하는 과정이 필수적입니다</a:t>
            </a:r>
            <a:r>
              <a:rPr lang="en-US" altLang="ko-KR" dirty="0"/>
              <a:t>.</a:t>
            </a:r>
          </a:p>
          <a:p>
            <a:r>
              <a:rPr lang="en-US" altLang="ko-KR" dirty="0" err="1"/>
              <a:t>LabelEncoder</a:t>
            </a:r>
            <a:r>
              <a:rPr lang="ko-KR" altLang="en-US" dirty="0"/>
              <a:t>는 알파벳 순서대로 </a:t>
            </a:r>
            <a:r>
              <a:rPr lang="en-US" altLang="ko-KR" dirty="0"/>
              <a:t>0</a:t>
            </a:r>
            <a:r>
              <a:rPr lang="ko-KR" altLang="en-US" dirty="0"/>
              <a:t>부터 숫자를 부여하는 것</a:t>
            </a:r>
          </a:p>
          <a:p>
            <a:endParaRPr lang="ko-KR" altLang="en-US" sz="2000" dirty="0"/>
          </a:p>
        </p:txBody>
      </p:sp>
    </p:spTree>
    <p:extLst>
      <p:ext uri="{BB962C8B-B14F-4D97-AF65-F5344CB8AC3E}">
        <p14:creationId xmlns:p14="http://schemas.microsoft.com/office/powerpoint/2010/main" val="1150354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4" descr="텍스트, 스크린샷, 폰트, 번호이(가) 표시된 사진&#10;&#10;AI 생성 콘텐츠는 정확하지 않을 수 있습니다.">
            <a:extLst>
              <a:ext uri="{FF2B5EF4-FFF2-40B4-BE49-F238E27FC236}">
                <a16:creationId xmlns:a16="http://schemas.microsoft.com/office/drawing/2014/main" id="{18788D41-03F2-73EE-68B0-5ED500D81FE0}"/>
              </a:ext>
            </a:extLst>
          </p:cNvPr>
          <p:cNvPicPr>
            <a:picLocks noGrp="1" noChangeAspect="1"/>
          </p:cNvPicPr>
          <p:nvPr>
            <p:ph idx="1"/>
          </p:nvPr>
        </p:nvPicPr>
        <p:blipFill>
          <a:blip r:embed="rId2"/>
          <a:srcRect t="8513"/>
          <a:stretch>
            <a:fillRect/>
          </a:stretch>
        </p:blipFill>
        <p:spPr>
          <a:xfrm>
            <a:off x="0" y="0"/>
            <a:ext cx="6239004" cy="4009292"/>
          </a:xfrm>
          <a:prstGeom prst="rect">
            <a:avLst/>
          </a:prstGeom>
        </p:spPr>
      </p:pic>
      <p:sp>
        <p:nvSpPr>
          <p:cNvPr id="6" name="TextBox 5">
            <a:extLst>
              <a:ext uri="{FF2B5EF4-FFF2-40B4-BE49-F238E27FC236}">
                <a16:creationId xmlns:a16="http://schemas.microsoft.com/office/drawing/2014/main" id="{6668D040-75E9-CE75-A4A5-DC3D8CD16104}"/>
              </a:ext>
            </a:extLst>
          </p:cNvPr>
          <p:cNvSpPr txBox="1"/>
          <p:nvPr/>
        </p:nvSpPr>
        <p:spPr>
          <a:xfrm>
            <a:off x="6471138" y="1050539"/>
            <a:ext cx="5444197" cy="954107"/>
          </a:xfrm>
          <a:prstGeom prst="rect">
            <a:avLst/>
          </a:prstGeom>
          <a:noFill/>
        </p:spPr>
        <p:txBody>
          <a:bodyPr wrap="square" rtlCol="0">
            <a:spAutoFit/>
          </a:bodyPr>
          <a:lstStyle/>
          <a:p>
            <a:pPr marL="285750" indent="-285750">
              <a:buFont typeface="Arial" panose="020B0604020202020204" pitchFamily="34" charset="0"/>
              <a:buChar char="•"/>
            </a:pPr>
            <a:r>
              <a:rPr lang="ko-KR" altLang="en-US" sz="2800" dirty="0" err="1"/>
              <a:t>전처리</a:t>
            </a:r>
            <a:r>
              <a:rPr lang="ko-KR" altLang="en-US" sz="2800" dirty="0"/>
              <a:t> 전 모델 성능 테스트</a:t>
            </a:r>
            <a:endParaRPr lang="en-US" altLang="ko-KR" sz="2800" dirty="0"/>
          </a:p>
          <a:p>
            <a:endParaRPr lang="en-US" altLang="ko-KR" sz="2800" dirty="0"/>
          </a:p>
        </p:txBody>
      </p:sp>
    </p:spTree>
    <p:extLst>
      <p:ext uri="{BB962C8B-B14F-4D97-AF65-F5344CB8AC3E}">
        <p14:creationId xmlns:p14="http://schemas.microsoft.com/office/powerpoint/2010/main" val="3317973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DBDA87BA-18A2-DAB4-CDDD-CA71608CD451}"/>
              </a:ext>
            </a:extLst>
          </p:cNvPr>
          <p:cNvPicPr>
            <a:picLocks noChangeAspect="1"/>
          </p:cNvPicPr>
          <p:nvPr/>
        </p:nvPicPr>
        <p:blipFill>
          <a:blip r:embed="rId2"/>
          <a:stretch>
            <a:fillRect/>
          </a:stretch>
        </p:blipFill>
        <p:spPr>
          <a:xfrm>
            <a:off x="1" y="-479"/>
            <a:ext cx="7582958" cy="3429479"/>
          </a:xfrm>
          <a:prstGeom prst="rect">
            <a:avLst/>
          </a:prstGeom>
        </p:spPr>
      </p:pic>
      <p:pic>
        <p:nvPicPr>
          <p:cNvPr id="7" name="그림 6"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02F0DDF5-68F6-FDD1-7A46-C857C8FCB53E}"/>
              </a:ext>
            </a:extLst>
          </p:cNvPr>
          <p:cNvPicPr>
            <a:picLocks noChangeAspect="1"/>
          </p:cNvPicPr>
          <p:nvPr/>
        </p:nvPicPr>
        <p:blipFill>
          <a:blip r:embed="rId3"/>
          <a:stretch>
            <a:fillRect/>
          </a:stretch>
        </p:blipFill>
        <p:spPr>
          <a:xfrm>
            <a:off x="0" y="3695259"/>
            <a:ext cx="7582958" cy="3162741"/>
          </a:xfrm>
          <a:prstGeom prst="rect">
            <a:avLst/>
          </a:prstGeom>
        </p:spPr>
      </p:pic>
      <p:sp>
        <p:nvSpPr>
          <p:cNvPr id="8" name="TextBox 7">
            <a:extLst>
              <a:ext uri="{FF2B5EF4-FFF2-40B4-BE49-F238E27FC236}">
                <a16:creationId xmlns:a16="http://schemas.microsoft.com/office/drawing/2014/main" id="{BF8B43C4-9CDC-A6B8-F44E-880B2BFFE784}"/>
              </a:ext>
            </a:extLst>
          </p:cNvPr>
          <p:cNvSpPr txBox="1"/>
          <p:nvPr/>
        </p:nvSpPr>
        <p:spPr>
          <a:xfrm>
            <a:off x="7807568" y="641543"/>
            <a:ext cx="4023360" cy="461665"/>
          </a:xfrm>
          <a:prstGeom prst="rect">
            <a:avLst/>
          </a:prstGeom>
          <a:noFill/>
        </p:spPr>
        <p:txBody>
          <a:bodyPr wrap="square" rtlCol="0">
            <a:spAutoFit/>
          </a:bodyPr>
          <a:lstStyle/>
          <a:p>
            <a:pPr marL="285750" indent="-285750">
              <a:buFont typeface="Arial" panose="020B0604020202020204" pitchFamily="34" charset="0"/>
              <a:buChar char="•"/>
            </a:pPr>
            <a:r>
              <a:rPr lang="ko-KR" altLang="en-US" sz="2400" dirty="0"/>
              <a:t>컬럼별 </a:t>
            </a:r>
            <a:r>
              <a:rPr lang="ko-KR" altLang="en-US" sz="2400" dirty="0" err="1"/>
              <a:t>결측치</a:t>
            </a:r>
            <a:r>
              <a:rPr lang="ko-KR" altLang="en-US" sz="2400" dirty="0"/>
              <a:t> 없음</a:t>
            </a:r>
          </a:p>
        </p:txBody>
      </p:sp>
    </p:spTree>
    <p:extLst>
      <p:ext uri="{BB962C8B-B14F-4D97-AF65-F5344CB8AC3E}">
        <p14:creationId xmlns:p14="http://schemas.microsoft.com/office/powerpoint/2010/main" val="1203442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디스플레이, 도표이(가) 표시된 사진&#10;&#10;AI 생성 콘텐츠는 정확하지 않을 수 있습니다.">
            <a:extLst>
              <a:ext uri="{FF2B5EF4-FFF2-40B4-BE49-F238E27FC236}">
                <a16:creationId xmlns:a16="http://schemas.microsoft.com/office/drawing/2014/main" id="{B50E0E5A-9DB6-D838-752C-F5E637225FD9}"/>
              </a:ext>
            </a:extLst>
          </p:cNvPr>
          <p:cNvPicPr>
            <a:picLocks noChangeAspect="1"/>
          </p:cNvPicPr>
          <p:nvPr/>
        </p:nvPicPr>
        <p:blipFill>
          <a:blip r:embed="rId2"/>
          <a:stretch>
            <a:fillRect/>
          </a:stretch>
        </p:blipFill>
        <p:spPr>
          <a:xfrm>
            <a:off x="0" y="0"/>
            <a:ext cx="7602011" cy="6858000"/>
          </a:xfrm>
          <a:prstGeom prst="rect">
            <a:avLst/>
          </a:prstGeom>
        </p:spPr>
      </p:pic>
      <p:sp>
        <p:nvSpPr>
          <p:cNvPr id="6" name="TextBox 5">
            <a:extLst>
              <a:ext uri="{FF2B5EF4-FFF2-40B4-BE49-F238E27FC236}">
                <a16:creationId xmlns:a16="http://schemas.microsoft.com/office/drawing/2014/main" id="{43EF2AEE-E0F7-B3F1-A06D-09AE528396FE}"/>
              </a:ext>
            </a:extLst>
          </p:cNvPr>
          <p:cNvSpPr txBox="1"/>
          <p:nvPr/>
        </p:nvSpPr>
        <p:spPr>
          <a:xfrm>
            <a:off x="7751298" y="309489"/>
            <a:ext cx="3995225" cy="1077218"/>
          </a:xfrm>
          <a:prstGeom prst="rect">
            <a:avLst/>
          </a:prstGeom>
          <a:noFill/>
        </p:spPr>
        <p:txBody>
          <a:bodyPr wrap="square" rtlCol="0">
            <a:spAutoFit/>
          </a:bodyPr>
          <a:lstStyle/>
          <a:p>
            <a:pPr marL="285750" indent="-285750">
              <a:buFont typeface="Arial" panose="020B0604020202020204" pitchFamily="34" charset="0"/>
              <a:buChar char="•"/>
            </a:pPr>
            <a:r>
              <a:rPr lang="ko-KR" altLang="en-US" sz="3200" dirty="0" err="1"/>
              <a:t>박스플롯을</a:t>
            </a:r>
            <a:r>
              <a:rPr lang="ko-KR" altLang="en-US" sz="3200" dirty="0"/>
              <a:t> 이용한 이상치 확인 </a:t>
            </a:r>
          </a:p>
        </p:txBody>
      </p:sp>
      <p:sp>
        <p:nvSpPr>
          <p:cNvPr id="7" name="직사각형 6">
            <a:extLst>
              <a:ext uri="{FF2B5EF4-FFF2-40B4-BE49-F238E27FC236}">
                <a16:creationId xmlns:a16="http://schemas.microsoft.com/office/drawing/2014/main" id="{B03D45EE-08FB-0C03-A08C-5F500D553218}"/>
              </a:ext>
            </a:extLst>
          </p:cNvPr>
          <p:cNvSpPr/>
          <p:nvPr/>
        </p:nvSpPr>
        <p:spPr>
          <a:xfrm>
            <a:off x="3362178" y="4107766"/>
            <a:ext cx="2733822" cy="436099"/>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61203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8B5F494D-BD95-1B1F-2921-E1FE434C8380}"/>
              </a:ext>
            </a:extLst>
          </p:cNvPr>
          <p:cNvPicPr>
            <a:picLocks noChangeAspect="1"/>
          </p:cNvPicPr>
          <p:nvPr/>
        </p:nvPicPr>
        <p:blipFill>
          <a:blip r:embed="rId2"/>
          <a:stretch>
            <a:fillRect/>
          </a:stretch>
        </p:blipFill>
        <p:spPr>
          <a:xfrm>
            <a:off x="0" y="0"/>
            <a:ext cx="7906043" cy="4973475"/>
          </a:xfrm>
          <a:prstGeom prst="rect">
            <a:avLst/>
          </a:prstGeom>
        </p:spPr>
      </p:pic>
      <p:sp>
        <p:nvSpPr>
          <p:cNvPr id="6" name="TextBox 5">
            <a:extLst>
              <a:ext uri="{FF2B5EF4-FFF2-40B4-BE49-F238E27FC236}">
                <a16:creationId xmlns:a16="http://schemas.microsoft.com/office/drawing/2014/main" id="{14B7323F-C273-7AC7-97BA-704244C60E7C}"/>
              </a:ext>
            </a:extLst>
          </p:cNvPr>
          <p:cNvSpPr txBox="1"/>
          <p:nvPr/>
        </p:nvSpPr>
        <p:spPr>
          <a:xfrm>
            <a:off x="8187397" y="211014"/>
            <a:ext cx="3798277" cy="2246769"/>
          </a:xfrm>
          <a:prstGeom prst="rect">
            <a:avLst/>
          </a:prstGeom>
          <a:noFill/>
        </p:spPr>
        <p:txBody>
          <a:bodyPr wrap="square" rtlCol="0">
            <a:spAutoFit/>
          </a:bodyPr>
          <a:lstStyle/>
          <a:p>
            <a:pPr marL="285750" indent="-285750">
              <a:buFont typeface="Arial" panose="020B0604020202020204" pitchFamily="34" charset="0"/>
              <a:buChar char="•"/>
            </a:pPr>
            <a:r>
              <a:rPr lang="ko-KR" altLang="en-US" sz="2800" dirty="0"/>
              <a:t>평균 나이 </a:t>
            </a:r>
            <a:r>
              <a:rPr lang="en-US" altLang="ko-KR" sz="2800" dirty="0"/>
              <a:t>43</a:t>
            </a:r>
            <a:r>
              <a:rPr lang="ko-KR" altLang="en-US" sz="2800" dirty="0"/>
              <a:t>세</a:t>
            </a:r>
            <a:endParaRPr lang="en-US" altLang="ko-KR" sz="2800" dirty="0"/>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ko-KR" altLang="en-US" sz="2800" dirty="0"/>
              <a:t>평균 </a:t>
            </a:r>
            <a:r>
              <a:rPr lang="en-US" altLang="ko-KR" sz="2800" dirty="0" err="1"/>
              <a:t>Bmi</a:t>
            </a:r>
            <a:r>
              <a:rPr lang="ko-KR" altLang="en-US" sz="2800" dirty="0"/>
              <a:t> 수치 </a:t>
            </a:r>
            <a:r>
              <a:rPr lang="en-US" altLang="ko-KR" sz="2800" dirty="0"/>
              <a:t>36</a:t>
            </a:r>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ko-KR" altLang="en-US" sz="2800" dirty="0"/>
              <a:t>전원 흡연자</a:t>
            </a:r>
          </a:p>
        </p:txBody>
      </p:sp>
      <p:pic>
        <p:nvPicPr>
          <p:cNvPr id="8" name="그림 7" descr="텍스트, 스크린샷, 폰트, 번호이(가) 표시된 사진&#10;&#10;AI 생성 콘텐츠는 정확하지 않을 수 있습니다.">
            <a:extLst>
              <a:ext uri="{FF2B5EF4-FFF2-40B4-BE49-F238E27FC236}">
                <a16:creationId xmlns:a16="http://schemas.microsoft.com/office/drawing/2014/main" id="{C275402E-55F5-3F26-0BF5-1D5BA72412D5}"/>
              </a:ext>
            </a:extLst>
          </p:cNvPr>
          <p:cNvPicPr>
            <a:picLocks noChangeAspect="1"/>
          </p:cNvPicPr>
          <p:nvPr/>
        </p:nvPicPr>
        <p:blipFill>
          <a:blip r:embed="rId3"/>
          <a:stretch>
            <a:fillRect/>
          </a:stretch>
        </p:blipFill>
        <p:spPr>
          <a:xfrm>
            <a:off x="-6666" y="2402329"/>
            <a:ext cx="7906044" cy="4060464"/>
          </a:xfrm>
          <a:prstGeom prst="rect">
            <a:avLst/>
          </a:prstGeom>
        </p:spPr>
      </p:pic>
      <p:pic>
        <p:nvPicPr>
          <p:cNvPr id="9" name="그림 8" descr="텍스트, 스크린샷, 소프트웨어, 디스플레이이(가) 표시된 사진&#10;&#10;AI 생성 콘텐츠는 정확하지 않을 수 있습니다.">
            <a:extLst>
              <a:ext uri="{FF2B5EF4-FFF2-40B4-BE49-F238E27FC236}">
                <a16:creationId xmlns:a16="http://schemas.microsoft.com/office/drawing/2014/main" id="{EE436647-04FD-8921-09F1-67F955563E57}"/>
              </a:ext>
            </a:extLst>
          </p:cNvPr>
          <p:cNvPicPr>
            <a:picLocks noChangeAspect="1"/>
          </p:cNvPicPr>
          <p:nvPr/>
        </p:nvPicPr>
        <p:blipFill>
          <a:blip r:embed="rId4"/>
          <a:srcRect b="19439"/>
          <a:stretch>
            <a:fillRect/>
          </a:stretch>
        </p:blipFill>
        <p:spPr>
          <a:xfrm>
            <a:off x="7898591" y="4235116"/>
            <a:ext cx="4307478" cy="2636953"/>
          </a:xfrm>
          <a:prstGeom prst="rect">
            <a:avLst/>
          </a:prstGeom>
        </p:spPr>
      </p:pic>
    </p:spTree>
    <p:extLst>
      <p:ext uri="{BB962C8B-B14F-4D97-AF65-F5344CB8AC3E}">
        <p14:creationId xmlns:p14="http://schemas.microsoft.com/office/powerpoint/2010/main" val="4175625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65D3CC06-1311-4220-9DED-078968D73BC2}"/>
              </a:ext>
            </a:extLst>
          </p:cNvPr>
          <p:cNvPicPr>
            <a:picLocks noChangeAspect="1"/>
          </p:cNvPicPr>
          <p:nvPr/>
        </p:nvPicPr>
        <p:blipFill>
          <a:blip r:embed="rId2"/>
          <a:stretch>
            <a:fillRect/>
          </a:stretch>
        </p:blipFill>
        <p:spPr>
          <a:xfrm>
            <a:off x="-14068" y="-14068"/>
            <a:ext cx="7582958" cy="4963218"/>
          </a:xfrm>
          <a:prstGeom prst="rect">
            <a:avLst/>
          </a:prstGeom>
        </p:spPr>
      </p:pic>
      <p:sp>
        <p:nvSpPr>
          <p:cNvPr id="12" name="TextBox 11">
            <a:extLst>
              <a:ext uri="{FF2B5EF4-FFF2-40B4-BE49-F238E27FC236}">
                <a16:creationId xmlns:a16="http://schemas.microsoft.com/office/drawing/2014/main" id="{F6CFA8CA-20CD-5A7A-2D9F-539B4D700667}"/>
              </a:ext>
            </a:extLst>
          </p:cNvPr>
          <p:cNvSpPr txBox="1"/>
          <p:nvPr/>
        </p:nvSpPr>
        <p:spPr>
          <a:xfrm>
            <a:off x="7835705" y="323557"/>
            <a:ext cx="4051495" cy="2246769"/>
          </a:xfrm>
          <a:prstGeom prst="rect">
            <a:avLst/>
          </a:prstGeom>
          <a:noFill/>
        </p:spPr>
        <p:txBody>
          <a:bodyPr wrap="square" rtlCol="0">
            <a:spAutoFit/>
          </a:bodyPr>
          <a:lstStyle/>
          <a:p>
            <a:pPr marL="285750" indent="-285750">
              <a:buFont typeface="Arial" panose="020B0604020202020204" pitchFamily="34" charset="0"/>
              <a:buChar char="•"/>
            </a:pPr>
            <a:r>
              <a:rPr lang="ko-KR" altLang="en-US" sz="2800" dirty="0"/>
              <a:t>평균 나이 </a:t>
            </a:r>
            <a:r>
              <a:rPr lang="en-US" altLang="ko-KR" sz="2800" dirty="0"/>
              <a:t>32</a:t>
            </a:r>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en-US" altLang="ko-KR" sz="2800" dirty="0" err="1"/>
              <a:t>Bmi</a:t>
            </a:r>
            <a:r>
              <a:rPr lang="en-US" altLang="ko-KR" sz="2800" dirty="0"/>
              <a:t> </a:t>
            </a:r>
            <a:r>
              <a:rPr lang="ko-KR" altLang="en-US" sz="2800" dirty="0"/>
              <a:t>수치 </a:t>
            </a:r>
            <a:r>
              <a:rPr lang="en-US" altLang="ko-KR" sz="2800" dirty="0"/>
              <a:t>33</a:t>
            </a:r>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en-US" altLang="ko-KR" sz="2800" dirty="0"/>
              <a:t>10</a:t>
            </a:r>
            <a:r>
              <a:rPr lang="ko-KR" altLang="en-US" sz="2800" dirty="0"/>
              <a:t>명 중 </a:t>
            </a:r>
            <a:r>
              <a:rPr lang="en-US" altLang="ko-KR" sz="2800" dirty="0"/>
              <a:t>8~9</a:t>
            </a:r>
            <a:r>
              <a:rPr lang="ko-KR" altLang="en-US" sz="2800" dirty="0"/>
              <a:t>명 흡연자</a:t>
            </a:r>
          </a:p>
        </p:txBody>
      </p:sp>
      <p:pic>
        <p:nvPicPr>
          <p:cNvPr id="14" name="그림 13" descr="텍스트, 스크린샷, 폰트이(가) 표시된 사진&#10;&#10;AI 생성 콘텐츠는 정확하지 않을 수 있습니다.">
            <a:extLst>
              <a:ext uri="{FF2B5EF4-FFF2-40B4-BE49-F238E27FC236}">
                <a16:creationId xmlns:a16="http://schemas.microsoft.com/office/drawing/2014/main" id="{24304B1B-F164-D9BB-EF31-E91DCA40937E}"/>
              </a:ext>
            </a:extLst>
          </p:cNvPr>
          <p:cNvPicPr>
            <a:picLocks noChangeAspect="1"/>
          </p:cNvPicPr>
          <p:nvPr/>
        </p:nvPicPr>
        <p:blipFill>
          <a:blip r:embed="rId3"/>
          <a:stretch>
            <a:fillRect/>
          </a:stretch>
        </p:blipFill>
        <p:spPr>
          <a:xfrm>
            <a:off x="-14068" y="2643778"/>
            <a:ext cx="7582958" cy="4214222"/>
          </a:xfrm>
          <a:prstGeom prst="rect">
            <a:avLst/>
          </a:prstGeom>
        </p:spPr>
      </p:pic>
      <p:pic>
        <p:nvPicPr>
          <p:cNvPr id="15" name="그림 14" descr="텍스트, 스크린샷, 소프트웨어, 디스플레이이(가) 표시된 사진&#10;&#10;AI 생성 콘텐츠는 정확하지 않을 수 있습니다.">
            <a:extLst>
              <a:ext uri="{FF2B5EF4-FFF2-40B4-BE49-F238E27FC236}">
                <a16:creationId xmlns:a16="http://schemas.microsoft.com/office/drawing/2014/main" id="{2B38E0B5-781A-CEA8-B0EC-6B0B36215A94}"/>
              </a:ext>
            </a:extLst>
          </p:cNvPr>
          <p:cNvPicPr>
            <a:picLocks noChangeAspect="1"/>
          </p:cNvPicPr>
          <p:nvPr/>
        </p:nvPicPr>
        <p:blipFill>
          <a:blip r:embed="rId4"/>
          <a:srcRect b="19439"/>
          <a:stretch>
            <a:fillRect/>
          </a:stretch>
        </p:blipFill>
        <p:spPr>
          <a:xfrm>
            <a:off x="7568891" y="4106419"/>
            <a:ext cx="4637178" cy="2765650"/>
          </a:xfrm>
          <a:prstGeom prst="rect">
            <a:avLst/>
          </a:prstGeom>
        </p:spPr>
      </p:pic>
    </p:spTree>
    <p:extLst>
      <p:ext uri="{BB962C8B-B14F-4D97-AF65-F5344CB8AC3E}">
        <p14:creationId xmlns:p14="http://schemas.microsoft.com/office/powerpoint/2010/main" val="2221672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6455D1A2-1AEA-6930-67C3-969456C51877}"/>
              </a:ext>
            </a:extLst>
          </p:cNvPr>
          <p:cNvPicPr>
            <a:picLocks noChangeAspect="1"/>
          </p:cNvPicPr>
          <p:nvPr/>
        </p:nvPicPr>
        <p:blipFill>
          <a:blip r:embed="rId2"/>
          <a:stretch>
            <a:fillRect/>
          </a:stretch>
        </p:blipFill>
        <p:spPr>
          <a:xfrm>
            <a:off x="0" y="0"/>
            <a:ext cx="7592485" cy="5444197"/>
          </a:xfrm>
          <a:prstGeom prst="rect">
            <a:avLst/>
          </a:prstGeom>
        </p:spPr>
      </p:pic>
      <p:sp>
        <p:nvSpPr>
          <p:cNvPr id="6" name="TextBox 5">
            <a:extLst>
              <a:ext uri="{FF2B5EF4-FFF2-40B4-BE49-F238E27FC236}">
                <a16:creationId xmlns:a16="http://schemas.microsoft.com/office/drawing/2014/main" id="{CDF216EF-2475-52EB-21D9-38A40DDDAED4}"/>
              </a:ext>
            </a:extLst>
          </p:cNvPr>
          <p:cNvSpPr txBox="1"/>
          <p:nvPr/>
        </p:nvSpPr>
        <p:spPr>
          <a:xfrm>
            <a:off x="7835705" y="323557"/>
            <a:ext cx="4051495" cy="2246769"/>
          </a:xfrm>
          <a:prstGeom prst="rect">
            <a:avLst/>
          </a:prstGeom>
          <a:noFill/>
        </p:spPr>
        <p:txBody>
          <a:bodyPr wrap="square" rtlCol="0">
            <a:spAutoFit/>
          </a:bodyPr>
          <a:lstStyle/>
          <a:p>
            <a:pPr marL="285750" indent="-285750">
              <a:buFont typeface="Arial" panose="020B0604020202020204" pitchFamily="34" charset="0"/>
              <a:buChar char="•"/>
            </a:pPr>
            <a:r>
              <a:rPr lang="ko-KR" altLang="en-US" sz="2800" dirty="0"/>
              <a:t>평균 나이</a:t>
            </a:r>
            <a:r>
              <a:rPr lang="en-US" altLang="ko-KR" sz="2800" dirty="0"/>
              <a:t> 49</a:t>
            </a:r>
            <a:r>
              <a:rPr lang="ko-KR" altLang="en-US" sz="2800" dirty="0"/>
              <a:t>세</a:t>
            </a:r>
            <a:endParaRPr lang="en-US" altLang="ko-KR" sz="2800" dirty="0"/>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en-US" altLang="ko-KR" sz="2800" dirty="0" err="1"/>
              <a:t>Bmi</a:t>
            </a:r>
            <a:r>
              <a:rPr lang="en-US" altLang="ko-KR" sz="2800" dirty="0"/>
              <a:t> </a:t>
            </a:r>
            <a:r>
              <a:rPr lang="ko-KR" altLang="en-US" sz="2800" dirty="0"/>
              <a:t>수치 </a:t>
            </a:r>
            <a:r>
              <a:rPr lang="en-US" altLang="ko-KR" sz="2800" dirty="0"/>
              <a:t>36</a:t>
            </a:r>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en-US" altLang="ko-KR" sz="2800" dirty="0"/>
              <a:t>72</a:t>
            </a:r>
            <a:r>
              <a:rPr lang="ko-KR" altLang="en-US" sz="2800" dirty="0"/>
              <a:t>명 전원 흡연자</a:t>
            </a:r>
            <a:endParaRPr lang="en-US" altLang="ko-KR" sz="2800" dirty="0"/>
          </a:p>
        </p:txBody>
      </p:sp>
      <p:pic>
        <p:nvPicPr>
          <p:cNvPr id="9" name="그림 8" descr="텍스트, 스크린샷, 소프트웨어, 디스플레이이(가) 표시된 사진&#10;&#10;AI 생성 콘텐츠는 정확하지 않을 수 있습니다.">
            <a:extLst>
              <a:ext uri="{FF2B5EF4-FFF2-40B4-BE49-F238E27FC236}">
                <a16:creationId xmlns:a16="http://schemas.microsoft.com/office/drawing/2014/main" id="{7335E018-D34B-C4D9-7559-84616F58C356}"/>
              </a:ext>
            </a:extLst>
          </p:cNvPr>
          <p:cNvPicPr>
            <a:picLocks noChangeAspect="1"/>
          </p:cNvPicPr>
          <p:nvPr/>
        </p:nvPicPr>
        <p:blipFill>
          <a:blip r:embed="rId3"/>
          <a:srcRect b="19439"/>
          <a:stretch>
            <a:fillRect/>
          </a:stretch>
        </p:blipFill>
        <p:spPr>
          <a:xfrm>
            <a:off x="7592485" y="4120491"/>
            <a:ext cx="4613583" cy="2751578"/>
          </a:xfrm>
          <a:prstGeom prst="rect">
            <a:avLst/>
          </a:prstGeom>
        </p:spPr>
      </p:pic>
      <p:pic>
        <p:nvPicPr>
          <p:cNvPr id="13" name="그림 12" descr="텍스트, 스크린샷, 폰트이(가) 표시된 사진&#10;&#10;AI 생성 콘텐츠는 정확하지 않을 수 있습니다.">
            <a:extLst>
              <a:ext uri="{FF2B5EF4-FFF2-40B4-BE49-F238E27FC236}">
                <a16:creationId xmlns:a16="http://schemas.microsoft.com/office/drawing/2014/main" id="{1DAACA0D-C877-0CA9-02C1-C2E23A508072}"/>
              </a:ext>
            </a:extLst>
          </p:cNvPr>
          <p:cNvPicPr>
            <a:picLocks noChangeAspect="1"/>
          </p:cNvPicPr>
          <p:nvPr/>
        </p:nvPicPr>
        <p:blipFill>
          <a:blip r:embed="rId4"/>
          <a:stretch>
            <a:fillRect/>
          </a:stretch>
        </p:blipFill>
        <p:spPr>
          <a:xfrm>
            <a:off x="0" y="2967790"/>
            <a:ext cx="7592484" cy="3904280"/>
          </a:xfrm>
          <a:prstGeom prst="rect">
            <a:avLst/>
          </a:prstGeom>
        </p:spPr>
      </p:pic>
    </p:spTree>
    <p:extLst>
      <p:ext uri="{BB962C8B-B14F-4D97-AF65-F5344CB8AC3E}">
        <p14:creationId xmlns:p14="http://schemas.microsoft.com/office/powerpoint/2010/main" val="33089741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descr="텍스트, 스크린샷, 폰트이(가) 표시된 사진&#10;&#10;AI 생성 콘텐츠는 정확하지 않을 수 있습니다.">
            <a:extLst>
              <a:ext uri="{FF2B5EF4-FFF2-40B4-BE49-F238E27FC236}">
                <a16:creationId xmlns:a16="http://schemas.microsoft.com/office/drawing/2014/main" id="{84D15A0F-1E07-40FF-BF5D-F87E9AA92BFA}"/>
              </a:ext>
            </a:extLst>
          </p:cNvPr>
          <p:cNvPicPr>
            <a:picLocks noChangeAspect="1"/>
          </p:cNvPicPr>
          <p:nvPr/>
        </p:nvPicPr>
        <p:blipFill>
          <a:blip r:embed="rId2"/>
          <a:stretch>
            <a:fillRect/>
          </a:stretch>
        </p:blipFill>
        <p:spPr>
          <a:xfrm>
            <a:off x="0" y="2294021"/>
            <a:ext cx="5833728" cy="3242089"/>
          </a:xfrm>
          <a:prstGeom prst="rect">
            <a:avLst/>
          </a:prstGeom>
        </p:spPr>
      </p:pic>
      <p:pic>
        <p:nvPicPr>
          <p:cNvPr id="5" name="그림 4" descr="텍스트, 스크린샷, 폰트이(가) 표시된 사진&#10;&#10;AI 생성 콘텐츠는 정확하지 않을 수 있습니다.">
            <a:extLst>
              <a:ext uri="{FF2B5EF4-FFF2-40B4-BE49-F238E27FC236}">
                <a16:creationId xmlns:a16="http://schemas.microsoft.com/office/drawing/2014/main" id="{6939DF6E-47A9-C276-9A43-5D20F4E9FAFC}"/>
              </a:ext>
            </a:extLst>
          </p:cNvPr>
          <p:cNvPicPr>
            <a:picLocks noChangeAspect="1"/>
          </p:cNvPicPr>
          <p:nvPr/>
        </p:nvPicPr>
        <p:blipFill>
          <a:blip r:embed="rId3"/>
          <a:stretch>
            <a:fillRect/>
          </a:stretch>
        </p:blipFill>
        <p:spPr>
          <a:xfrm>
            <a:off x="6358272" y="2294020"/>
            <a:ext cx="5833728" cy="3242089"/>
          </a:xfrm>
          <a:prstGeom prst="rect">
            <a:avLst/>
          </a:prstGeom>
        </p:spPr>
      </p:pic>
      <p:sp>
        <p:nvSpPr>
          <p:cNvPr id="6" name="TextBox 5">
            <a:extLst>
              <a:ext uri="{FF2B5EF4-FFF2-40B4-BE49-F238E27FC236}">
                <a16:creationId xmlns:a16="http://schemas.microsoft.com/office/drawing/2014/main" id="{61C1CB3B-DDC7-83B5-640F-FF5B45C0AD34}"/>
              </a:ext>
            </a:extLst>
          </p:cNvPr>
          <p:cNvSpPr txBox="1"/>
          <p:nvPr/>
        </p:nvSpPr>
        <p:spPr>
          <a:xfrm>
            <a:off x="439212" y="1060280"/>
            <a:ext cx="11503405" cy="523220"/>
          </a:xfrm>
          <a:prstGeom prst="rect">
            <a:avLst/>
          </a:prstGeom>
          <a:noFill/>
        </p:spPr>
        <p:txBody>
          <a:bodyPr wrap="square" rtlCol="0">
            <a:spAutoFit/>
          </a:bodyPr>
          <a:lstStyle/>
          <a:p>
            <a:r>
              <a:rPr lang="en-US" altLang="ko-KR" sz="2800" dirty="0"/>
              <a:t>3~4</a:t>
            </a:r>
            <a:r>
              <a:rPr lang="ko-KR" altLang="ko-KR" sz="2800" dirty="0"/>
              <a:t>만 달러를 내는 사람들과</a:t>
            </a:r>
            <a:r>
              <a:rPr lang="en-US" altLang="ko-KR" sz="2800" dirty="0"/>
              <a:t> 4~5</a:t>
            </a:r>
            <a:r>
              <a:rPr lang="ko-KR" altLang="ko-KR" sz="2800" dirty="0"/>
              <a:t>만달러를 낸 사람들의 평균적인 특징</a:t>
            </a:r>
          </a:p>
        </p:txBody>
      </p:sp>
    </p:spTree>
    <p:extLst>
      <p:ext uri="{BB962C8B-B14F-4D97-AF65-F5344CB8AC3E}">
        <p14:creationId xmlns:p14="http://schemas.microsoft.com/office/powerpoint/2010/main" val="1270521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5A52A676-C52F-2C91-1FFA-A01749317918}"/>
              </a:ext>
            </a:extLst>
          </p:cNvPr>
          <p:cNvPicPr>
            <a:picLocks noChangeAspect="1"/>
          </p:cNvPicPr>
          <p:nvPr/>
        </p:nvPicPr>
        <p:blipFill>
          <a:blip r:embed="rId2"/>
          <a:stretch>
            <a:fillRect/>
          </a:stretch>
        </p:blipFill>
        <p:spPr>
          <a:xfrm>
            <a:off x="0" y="0"/>
            <a:ext cx="7563906" cy="5401429"/>
          </a:xfrm>
          <a:prstGeom prst="rect">
            <a:avLst/>
          </a:prstGeom>
        </p:spPr>
      </p:pic>
      <p:pic>
        <p:nvPicPr>
          <p:cNvPr id="7" name="그림 6" descr="텍스트, 스크린샷, 소프트웨어, 멀티미디어 소프트웨어이(가) 표시된 사진&#10;&#10;AI 생성 콘텐츠는 정확하지 않을 수 있습니다.">
            <a:extLst>
              <a:ext uri="{FF2B5EF4-FFF2-40B4-BE49-F238E27FC236}">
                <a16:creationId xmlns:a16="http://schemas.microsoft.com/office/drawing/2014/main" id="{3A8D4695-24C5-847E-9144-19FB8C5FAE38}"/>
              </a:ext>
            </a:extLst>
          </p:cNvPr>
          <p:cNvPicPr>
            <a:picLocks noChangeAspect="1"/>
          </p:cNvPicPr>
          <p:nvPr/>
        </p:nvPicPr>
        <p:blipFill>
          <a:blip r:embed="rId3"/>
          <a:srcRect r="21476"/>
          <a:stretch>
            <a:fillRect/>
          </a:stretch>
        </p:blipFill>
        <p:spPr>
          <a:xfrm>
            <a:off x="5821783" y="4529797"/>
            <a:ext cx="6370217" cy="2364453"/>
          </a:xfrm>
          <a:prstGeom prst="rect">
            <a:avLst/>
          </a:prstGeom>
        </p:spPr>
      </p:pic>
      <p:sp>
        <p:nvSpPr>
          <p:cNvPr id="8" name="TextBox 7">
            <a:extLst>
              <a:ext uri="{FF2B5EF4-FFF2-40B4-BE49-F238E27FC236}">
                <a16:creationId xmlns:a16="http://schemas.microsoft.com/office/drawing/2014/main" id="{C149A984-1680-4CDD-0253-A821CF07AB6A}"/>
              </a:ext>
            </a:extLst>
          </p:cNvPr>
          <p:cNvSpPr txBox="1"/>
          <p:nvPr/>
        </p:nvSpPr>
        <p:spPr>
          <a:xfrm>
            <a:off x="7835705" y="323557"/>
            <a:ext cx="4220307" cy="2246769"/>
          </a:xfrm>
          <a:prstGeom prst="rect">
            <a:avLst/>
          </a:prstGeom>
          <a:noFill/>
        </p:spPr>
        <p:txBody>
          <a:bodyPr wrap="square" rtlCol="0">
            <a:spAutoFit/>
          </a:bodyPr>
          <a:lstStyle/>
          <a:p>
            <a:pPr marL="285750" indent="-285750">
              <a:buFont typeface="Arial" panose="020B0604020202020204" pitchFamily="34" charset="0"/>
              <a:buChar char="•"/>
            </a:pPr>
            <a:r>
              <a:rPr lang="en-US" altLang="ko-KR" sz="2800" dirty="0"/>
              <a:t>3</a:t>
            </a:r>
            <a:r>
              <a:rPr lang="ko-KR" altLang="en-US" sz="2800" dirty="0"/>
              <a:t>만</a:t>
            </a:r>
            <a:r>
              <a:rPr lang="en-US" altLang="ko-KR" sz="2800" dirty="0"/>
              <a:t>~5</a:t>
            </a:r>
            <a:r>
              <a:rPr lang="ko-KR" altLang="en-US" sz="2800" dirty="0"/>
              <a:t>만달러 이하 인원</a:t>
            </a:r>
            <a:endParaRPr lang="en-US" altLang="ko-KR" sz="2800" dirty="0"/>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en-US" altLang="ko-KR" sz="2800" dirty="0" err="1"/>
              <a:t>Bmi</a:t>
            </a:r>
            <a:r>
              <a:rPr lang="en-US" altLang="ko-KR" sz="2800" dirty="0"/>
              <a:t> </a:t>
            </a:r>
            <a:r>
              <a:rPr lang="ko-KR" altLang="en-US" sz="2800" dirty="0"/>
              <a:t>수치 </a:t>
            </a:r>
            <a:r>
              <a:rPr lang="en-US" altLang="ko-KR" sz="2800" dirty="0"/>
              <a:t>30</a:t>
            </a:r>
            <a:r>
              <a:rPr lang="ko-KR" altLang="en-US" sz="2800" dirty="0"/>
              <a:t>미만</a:t>
            </a:r>
            <a:endParaRPr lang="en-US" altLang="ko-KR" sz="2800" dirty="0"/>
          </a:p>
          <a:p>
            <a:pPr marL="285750" indent="-285750">
              <a:buFont typeface="Arial" panose="020B0604020202020204" pitchFamily="34" charset="0"/>
              <a:buChar char="•"/>
            </a:pPr>
            <a:endParaRPr lang="en-US" altLang="ko-KR" sz="2800" dirty="0"/>
          </a:p>
          <a:p>
            <a:pPr marL="285750" indent="-285750">
              <a:buFont typeface="Arial" panose="020B0604020202020204" pitchFamily="34" charset="0"/>
              <a:buChar char="•"/>
            </a:pPr>
            <a:r>
              <a:rPr lang="ko-KR" altLang="en-US" sz="2800" dirty="0"/>
              <a:t>비흡연자 </a:t>
            </a:r>
            <a:endParaRPr lang="en-US" altLang="ko-KR" sz="2800" dirty="0"/>
          </a:p>
        </p:txBody>
      </p:sp>
    </p:spTree>
    <p:extLst>
      <p:ext uri="{BB962C8B-B14F-4D97-AF65-F5344CB8AC3E}">
        <p14:creationId xmlns:p14="http://schemas.microsoft.com/office/powerpoint/2010/main" val="23610908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그래프, 소프트웨어이(가) 표시된 사진&#10;&#10;AI 생성 콘텐츠는 정확하지 않을 수 있습니다.">
            <a:extLst>
              <a:ext uri="{FF2B5EF4-FFF2-40B4-BE49-F238E27FC236}">
                <a16:creationId xmlns:a16="http://schemas.microsoft.com/office/drawing/2014/main" id="{F7D9A0AD-D5DB-412B-FD1E-49777C84DF4C}"/>
              </a:ext>
            </a:extLst>
          </p:cNvPr>
          <p:cNvPicPr>
            <a:picLocks noChangeAspect="1"/>
          </p:cNvPicPr>
          <p:nvPr/>
        </p:nvPicPr>
        <p:blipFill>
          <a:blip r:embed="rId2"/>
          <a:stretch>
            <a:fillRect/>
          </a:stretch>
        </p:blipFill>
        <p:spPr>
          <a:xfrm>
            <a:off x="0" y="0"/>
            <a:ext cx="7554379" cy="6858000"/>
          </a:xfrm>
          <a:prstGeom prst="rect">
            <a:avLst/>
          </a:prstGeom>
        </p:spPr>
      </p:pic>
      <p:sp>
        <p:nvSpPr>
          <p:cNvPr id="13" name="TextBox 12">
            <a:extLst>
              <a:ext uri="{FF2B5EF4-FFF2-40B4-BE49-F238E27FC236}">
                <a16:creationId xmlns:a16="http://schemas.microsoft.com/office/drawing/2014/main" id="{B3DB2658-21F8-07D4-C5ED-27A410AAB38A}"/>
              </a:ext>
            </a:extLst>
          </p:cNvPr>
          <p:cNvSpPr txBox="1"/>
          <p:nvPr/>
        </p:nvSpPr>
        <p:spPr>
          <a:xfrm>
            <a:off x="7732569" y="430631"/>
            <a:ext cx="4332821" cy="1569660"/>
          </a:xfrm>
          <a:prstGeom prst="rect">
            <a:avLst/>
          </a:prstGeom>
          <a:noFill/>
        </p:spPr>
        <p:txBody>
          <a:bodyPr wrap="square">
            <a:spAutoFit/>
          </a:bodyPr>
          <a:lstStyle/>
          <a:p>
            <a:pPr marL="285750" indent="-285750">
              <a:buFont typeface="Arial" panose="020B0604020202020204" pitchFamily="34" charset="0"/>
              <a:buChar char="•"/>
            </a:pPr>
            <a:r>
              <a:rPr lang="ko-KR" altLang="en-US" sz="3200" dirty="0" err="1"/>
              <a:t>쏠려있는</a:t>
            </a:r>
            <a:r>
              <a:rPr lang="ko-KR" altLang="en-US" sz="3200" dirty="0"/>
              <a:t> 데이터를 정규 분포에 가깝게 변환</a:t>
            </a:r>
            <a:endParaRPr lang="en-US" altLang="ko-KR" sz="3200" dirty="0"/>
          </a:p>
        </p:txBody>
      </p:sp>
    </p:spTree>
    <p:extLst>
      <p:ext uri="{BB962C8B-B14F-4D97-AF65-F5344CB8AC3E}">
        <p14:creationId xmlns:p14="http://schemas.microsoft.com/office/powerpoint/2010/main" val="1771365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이(가) 표시된 사진&#10;&#10;AI 생성 콘텐츠는 정확하지 않을 수 있습니다.">
            <a:extLst>
              <a:ext uri="{FF2B5EF4-FFF2-40B4-BE49-F238E27FC236}">
                <a16:creationId xmlns:a16="http://schemas.microsoft.com/office/drawing/2014/main" id="{83615EB7-BF78-C845-B995-15D4582653D0}"/>
              </a:ext>
            </a:extLst>
          </p:cNvPr>
          <p:cNvPicPr>
            <a:picLocks noChangeAspect="1"/>
          </p:cNvPicPr>
          <p:nvPr/>
        </p:nvPicPr>
        <p:blipFill>
          <a:blip r:embed="rId2"/>
          <a:srcRect t="11580" r="29241"/>
          <a:stretch>
            <a:fillRect/>
          </a:stretch>
        </p:blipFill>
        <p:spPr>
          <a:xfrm>
            <a:off x="6348765" y="2096086"/>
            <a:ext cx="5843238" cy="3945938"/>
          </a:xfrm>
          <a:prstGeom prst="rect">
            <a:avLst/>
          </a:prstGeom>
        </p:spPr>
      </p:pic>
      <p:pic>
        <p:nvPicPr>
          <p:cNvPr id="7" name="그림 6" descr="텍스트, 스크린샷, 폰트, 번호이(가) 표시된 사진&#10;&#10;AI 생성 콘텐츠는 정확하지 않을 수 있습니다.">
            <a:extLst>
              <a:ext uri="{FF2B5EF4-FFF2-40B4-BE49-F238E27FC236}">
                <a16:creationId xmlns:a16="http://schemas.microsoft.com/office/drawing/2014/main" id="{BFBE3702-B58D-7678-6329-83FD713AFC05}"/>
              </a:ext>
            </a:extLst>
          </p:cNvPr>
          <p:cNvPicPr>
            <a:picLocks noChangeAspect="1"/>
          </p:cNvPicPr>
          <p:nvPr/>
        </p:nvPicPr>
        <p:blipFill>
          <a:blip r:embed="rId3"/>
          <a:srcRect t="11580"/>
          <a:stretch>
            <a:fillRect/>
          </a:stretch>
        </p:blipFill>
        <p:spPr>
          <a:xfrm>
            <a:off x="0" y="2096086"/>
            <a:ext cx="5843238" cy="3945938"/>
          </a:xfrm>
          <a:prstGeom prst="rect">
            <a:avLst/>
          </a:prstGeom>
        </p:spPr>
      </p:pic>
      <p:sp>
        <p:nvSpPr>
          <p:cNvPr id="8" name="TextBox 7">
            <a:extLst>
              <a:ext uri="{FF2B5EF4-FFF2-40B4-BE49-F238E27FC236}">
                <a16:creationId xmlns:a16="http://schemas.microsoft.com/office/drawing/2014/main" id="{49323BE8-2200-F6BA-FE45-E0349AB73650}"/>
              </a:ext>
            </a:extLst>
          </p:cNvPr>
          <p:cNvSpPr txBox="1"/>
          <p:nvPr/>
        </p:nvSpPr>
        <p:spPr>
          <a:xfrm>
            <a:off x="1393044" y="1624707"/>
            <a:ext cx="3057150" cy="369332"/>
          </a:xfrm>
          <a:prstGeom prst="rect">
            <a:avLst/>
          </a:prstGeom>
          <a:noFill/>
        </p:spPr>
        <p:txBody>
          <a:bodyPr wrap="square" rtlCol="0">
            <a:spAutoFit/>
          </a:bodyPr>
          <a:lstStyle/>
          <a:p>
            <a:r>
              <a:rPr lang="ko-KR" altLang="en-US" b="1" dirty="0" err="1"/>
              <a:t>전처리</a:t>
            </a:r>
            <a:r>
              <a:rPr lang="ko-KR" altLang="en-US" b="1" dirty="0"/>
              <a:t> 전 데이터 모델 성능</a:t>
            </a:r>
          </a:p>
        </p:txBody>
      </p:sp>
      <p:sp>
        <p:nvSpPr>
          <p:cNvPr id="9" name="TextBox 8">
            <a:extLst>
              <a:ext uri="{FF2B5EF4-FFF2-40B4-BE49-F238E27FC236}">
                <a16:creationId xmlns:a16="http://schemas.microsoft.com/office/drawing/2014/main" id="{59E9609E-4AAC-9A78-A1E5-7674E833D225}"/>
              </a:ext>
            </a:extLst>
          </p:cNvPr>
          <p:cNvSpPr txBox="1"/>
          <p:nvPr/>
        </p:nvSpPr>
        <p:spPr>
          <a:xfrm>
            <a:off x="7219848" y="1624707"/>
            <a:ext cx="4101071" cy="369332"/>
          </a:xfrm>
          <a:prstGeom prst="rect">
            <a:avLst/>
          </a:prstGeom>
          <a:noFill/>
        </p:spPr>
        <p:txBody>
          <a:bodyPr wrap="square" rtlCol="0">
            <a:spAutoFit/>
          </a:bodyPr>
          <a:lstStyle/>
          <a:p>
            <a:r>
              <a:rPr lang="ko-KR" altLang="en-US" b="1" dirty="0"/>
              <a:t>이상치 제거와 로그 변환 후 모델 성능 </a:t>
            </a:r>
          </a:p>
        </p:txBody>
      </p:sp>
    </p:spTree>
    <p:extLst>
      <p:ext uri="{BB962C8B-B14F-4D97-AF65-F5344CB8AC3E}">
        <p14:creationId xmlns:p14="http://schemas.microsoft.com/office/powerpoint/2010/main" val="2925639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1814419-5CA2-6A4F-F51D-9E3C27479940}"/>
            </a:ext>
          </a:extLst>
        </p:cNvPr>
        <p:cNvGrpSpPr/>
        <p:nvPr/>
      </p:nvGrpSpPr>
      <p:grpSpPr>
        <a:xfrm>
          <a:off x="0" y="0"/>
          <a:ext cx="0" cy="0"/>
          <a:chOff x="0" y="0"/>
          <a:chExt cx="0" cy="0"/>
        </a:xfrm>
      </p:grpSpPr>
      <p:sp>
        <p:nvSpPr>
          <p:cNvPr id="7" name="Freeform: Shape 6">
            <a:extLst>
              <a:ext uri="{FF2B5EF4-FFF2-40B4-BE49-F238E27FC236}">
                <a16:creationId xmlns:a16="http://schemas.microsoft.com/office/drawing/2014/main" id="{2B2FFD3E-7F21-5971-68D3-5E74B6BB4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A41162F8-3230-A4A7-6BC5-DF50D5ED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제목 1">
            <a:extLst>
              <a:ext uri="{FF2B5EF4-FFF2-40B4-BE49-F238E27FC236}">
                <a16:creationId xmlns:a16="http://schemas.microsoft.com/office/drawing/2014/main" id="{05113EBC-5248-5F7A-04D1-89C704ACCAAA}"/>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pPr latinLnBrk="0"/>
            <a:r>
              <a:rPr lang="ko-KR" altLang="en-US" sz="5400" dirty="0">
                <a:solidFill>
                  <a:schemeClr val="bg1">
                    <a:lumMod val="95000"/>
                    <a:lumOff val="5000"/>
                  </a:schemeClr>
                </a:solidFill>
              </a:rPr>
              <a:t>데이터 세분화</a:t>
            </a:r>
            <a:r>
              <a:rPr lang="en-US" altLang="ko-KR" sz="5400" dirty="0">
                <a:solidFill>
                  <a:schemeClr val="bg1">
                    <a:lumMod val="95000"/>
                    <a:lumOff val="5000"/>
                  </a:schemeClr>
                </a:solidFill>
              </a:rPr>
              <a:t>, </a:t>
            </a:r>
            <a:r>
              <a:rPr lang="ko-KR" altLang="en-US" sz="5400" dirty="0">
                <a:solidFill>
                  <a:schemeClr val="bg1">
                    <a:lumMod val="95000"/>
                    <a:lumOff val="5000"/>
                  </a:schemeClr>
                </a:solidFill>
              </a:rPr>
              <a:t>전처리와 모델링</a:t>
            </a:r>
          </a:p>
        </p:txBody>
      </p:sp>
    </p:spTree>
    <p:extLst>
      <p:ext uri="{BB962C8B-B14F-4D97-AF65-F5344CB8AC3E}">
        <p14:creationId xmlns:p14="http://schemas.microsoft.com/office/powerpoint/2010/main" val="85798424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7C3D18-1B98-3E87-421E-7FC7C6F366A6}"/>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1AC9D5CF-2393-A41D-37CA-D7B0FFCAABD7}"/>
              </a:ext>
            </a:extLst>
          </p:cNvPr>
          <p:cNvSpPr>
            <a:spLocks noGrp="1"/>
          </p:cNvSpPr>
          <p:nvPr>
            <p:ph idx="1"/>
          </p:nvPr>
        </p:nvSpPr>
        <p:spPr/>
        <p:txBody>
          <a:bodyPr/>
          <a:lstStyle/>
          <a:p>
            <a:endParaRPr lang="ko-KR" altLang="en-US"/>
          </a:p>
        </p:txBody>
      </p:sp>
      <p:pic>
        <p:nvPicPr>
          <p:cNvPr id="5" name="그림 4" descr="텍스트, 스크린샷, 폰트이(가) 표시된 사진">
            <a:extLst>
              <a:ext uri="{FF2B5EF4-FFF2-40B4-BE49-F238E27FC236}">
                <a16:creationId xmlns:a16="http://schemas.microsoft.com/office/drawing/2014/main" id="{4730279E-3EFC-CC9B-C288-B5E75BC00834}"/>
              </a:ext>
            </a:extLst>
          </p:cNvPr>
          <p:cNvPicPr>
            <a:picLocks noChangeAspect="1"/>
          </p:cNvPicPr>
          <p:nvPr/>
        </p:nvPicPr>
        <p:blipFill>
          <a:blip r:embed="rId2"/>
          <a:stretch>
            <a:fillRect/>
          </a:stretch>
        </p:blipFill>
        <p:spPr>
          <a:xfrm>
            <a:off x="405478" y="365125"/>
            <a:ext cx="10948321" cy="5836627"/>
          </a:xfrm>
          <a:prstGeom prst="rect">
            <a:avLst/>
          </a:prstGeom>
        </p:spPr>
      </p:pic>
    </p:spTree>
    <p:extLst>
      <p:ext uri="{BB962C8B-B14F-4D97-AF65-F5344CB8AC3E}">
        <p14:creationId xmlns:p14="http://schemas.microsoft.com/office/powerpoint/2010/main" val="2325045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DCAD48F-01C4-DD71-BF4B-98996AB1486F}"/>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D01DD381-B09D-F5E4-7566-BAB5296DF64A}"/>
              </a:ext>
            </a:extLst>
          </p:cNvPr>
          <p:cNvSpPr>
            <a:spLocks noGrp="1"/>
          </p:cNvSpPr>
          <p:nvPr>
            <p:ph idx="1"/>
          </p:nvPr>
        </p:nvSpPr>
        <p:spPr/>
        <p:txBody>
          <a:bodyPr/>
          <a:lstStyle/>
          <a:p>
            <a:endParaRPr lang="ko-KR" altLang="en-US"/>
          </a:p>
        </p:txBody>
      </p:sp>
      <p:pic>
        <p:nvPicPr>
          <p:cNvPr id="7" name="그림 6" descr="텍스트, 스크린샷, 라인, 도표이(가) 표시된 사진&#10;&#10;AI 생성 콘텐츠는 정확하지 않을 수 있습니다.">
            <a:extLst>
              <a:ext uri="{FF2B5EF4-FFF2-40B4-BE49-F238E27FC236}">
                <a16:creationId xmlns:a16="http://schemas.microsoft.com/office/drawing/2014/main" id="{007CE68C-FC73-FB69-E6B2-B65705CAC2B5}"/>
              </a:ext>
            </a:extLst>
          </p:cNvPr>
          <p:cNvPicPr>
            <a:picLocks noChangeAspect="1"/>
          </p:cNvPicPr>
          <p:nvPr/>
        </p:nvPicPr>
        <p:blipFill>
          <a:blip r:embed="rId2"/>
          <a:stretch>
            <a:fillRect/>
          </a:stretch>
        </p:blipFill>
        <p:spPr>
          <a:xfrm>
            <a:off x="1782417" y="388738"/>
            <a:ext cx="7421217" cy="6080523"/>
          </a:xfrm>
          <a:prstGeom prst="rect">
            <a:avLst/>
          </a:prstGeom>
        </p:spPr>
      </p:pic>
    </p:spTree>
    <p:extLst>
      <p:ext uri="{BB962C8B-B14F-4D97-AF65-F5344CB8AC3E}">
        <p14:creationId xmlns:p14="http://schemas.microsoft.com/office/powerpoint/2010/main" val="2757182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CA1596-976C-AE1E-9429-4FE093063C23}"/>
              </a:ext>
            </a:extLst>
          </p:cNvPr>
          <p:cNvSpPr>
            <a:spLocks noGrp="1"/>
          </p:cNvSpPr>
          <p:nvPr>
            <p:ph type="title"/>
          </p:nvPr>
        </p:nvSpPr>
        <p:spPr/>
        <p:txBody>
          <a:bodyPr/>
          <a:lstStyle/>
          <a:p>
            <a:endParaRPr lang="ko-KR" altLang="en-US"/>
          </a:p>
        </p:txBody>
      </p:sp>
      <p:pic>
        <p:nvPicPr>
          <p:cNvPr id="6" name="내용 개체 틀 5" descr="텍스트, 스크린샷, 도표, 그래프이(가) 표시된 사진&#10;&#10;AI 생성 콘텐츠는 정확하지 않을 수 있습니다.">
            <a:extLst>
              <a:ext uri="{FF2B5EF4-FFF2-40B4-BE49-F238E27FC236}">
                <a16:creationId xmlns:a16="http://schemas.microsoft.com/office/drawing/2014/main" id="{309674F1-CE7A-95D9-BC75-8FA20803FA70}"/>
              </a:ext>
            </a:extLst>
          </p:cNvPr>
          <p:cNvPicPr>
            <a:picLocks noGrp="1" noChangeAspect="1"/>
          </p:cNvPicPr>
          <p:nvPr>
            <p:ph idx="1"/>
          </p:nvPr>
        </p:nvPicPr>
        <p:blipFill>
          <a:blip r:embed="rId2"/>
          <a:stretch>
            <a:fillRect/>
          </a:stretch>
        </p:blipFill>
        <p:spPr>
          <a:xfrm>
            <a:off x="5705059" y="1139428"/>
            <a:ext cx="6317975" cy="4763738"/>
          </a:xfrm>
          <a:prstGeom prst="rect">
            <a:avLst/>
          </a:prstGeom>
        </p:spPr>
      </p:pic>
      <p:pic>
        <p:nvPicPr>
          <p:cNvPr id="5" name="그림 4" descr="텍스트, 도표, 번호, 스크린샷이(가) 표시된 사진&#10;&#10;AI 생성 콘텐츠는 정확하지 않을 수 있습니다.">
            <a:extLst>
              <a:ext uri="{FF2B5EF4-FFF2-40B4-BE49-F238E27FC236}">
                <a16:creationId xmlns:a16="http://schemas.microsoft.com/office/drawing/2014/main" id="{86A2D725-4730-CBFE-D91D-65D66143D3FA}"/>
              </a:ext>
            </a:extLst>
          </p:cNvPr>
          <p:cNvPicPr>
            <a:picLocks noChangeAspect="1"/>
          </p:cNvPicPr>
          <p:nvPr/>
        </p:nvPicPr>
        <p:blipFill>
          <a:blip r:embed="rId3"/>
          <a:stretch>
            <a:fillRect/>
          </a:stretch>
        </p:blipFill>
        <p:spPr>
          <a:xfrm>
            <a:off x="-27906" y="1149368"/>
            <a:ext cx="5808021" cy="4317154"/>
          </a:xfrm>
          <a:prstGeom prst="rect">
            <a:avLst/>
          </a:prstGeom>
        </p:spPr>
      </p:pic>
    </p:spTree>
    <p:extLst>
      <p:ext uri="{BB962C8B-B14F-4D97-AF65-F5344CB8AC3E}">
        <p14:creationId xmlns:p14="http://schemas.microsoft.com/office/powerpoint/2010/main" val="1036121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9B4192-0575-5F2C-38F3-373601CBC394}"/>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0D2CE7CB-21AF-1E37-DD7E-248589EFFDC5}"/>
              </a:ext>
            </a:extLst>
          </p:cNvPr>
          <p:cNvSpPr>
            <a:spLocks noGrp="1"/>
          </p:cNvSpPr>
          <p:nvPr>
            <p:ph idx="1"/>
          </p:nvPr>
        </p:nvSpPr>
        <p:spPr/>
        <p:txBody>
          <a:bodyPr/>
          <a:lstStyle/>
          <a:p>
            <a:endParaRPr lang="ko-KR" altLang="en-US"/>
          </a:p>
        </p:txBody>
      </p:sp>
      <p:pic>
        <p:nvPicPr>
          <p:cNvPr id="5" name="그림 4" descr="텍스트, 스크린샷, 도표, 그래프이(가) 표시된 사진&#10;&#10;AI 생성 콘텐츠는 정확하지 않을 수 있습니다.">
            <a:extLst>
              <a:ext uri="{FF2B5EF4-FFF2-40B4-BE49-F238E27FC236}">
                <a16:creationId xmlns:a16="http://schemas.microsoft.com/office/drawing/2014/main" id="{F78963F0-A8DB-B639-0204-A8A5E713EE23}"/>
              </a:ext>
            </a:extLst>
          </p:cNvPr>
          <p:cNvPicPr>
            <a:picLocks noChangeAspect="1"/>
          </p:cNvPicPr>
          <p:nvPr/>
        </p:nvPicPr>
        <p:blipFill>
          <a:blip r:embed="rId2"/>
          <a:stretch>
            <a:fillRect/>
          </a:stretch>
        </p:blipFill>
        <p:spPr>
          <a:xfrm>
            <a:off x="2355574" y="269192"/>
            <a:ext cx="6600991" cy="6108556"/>
          </a:xfrm>
          <a:prstGeom prst="rect">
            <a:avLst/>
          </a:prstGeom>
        </p:spPr>
      </p:pic>
    </p:spTree>
    <p:extLst>
      <p:ext uri="{BB962C8B-B14F-4D97-AF65-F5344CB8AC3E}">
        <p14:creationId xmlns:p14="http://schemas.microsoft.com/office/powerpoint/2010/main" val="2762840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도표, 그래프이(가) 표시된 사진&#10;&#10;AI 생성 콘텐츠는 정확하지 않을 수 있습니다.">
            <a:extLst>
              <a:ext uri="{FF2B5EF4-FFF2-40B4-BE49-F238E27FC236}">
                <a16:creationId xmlns:a16="http://schemas.microsoft.com/office/drawing/2014/main" id="{FC264BE3-3D6E-57FC-A44C-200FBE4DF1EC}"/>
              </a:ext>
            </a:extLst>
          </p:cNvPr>
          <p:cNvPicPr>
            <a:picLocks noChangeAspect="1"/>
          </p:cNvPicPr>
          <p:nvPr/>
        </p:nvPicPr>
        <p:blipFill>
          <a:blip r:embed="rId2"/>
          <a:stretch>
            <a:fillRect/>
          </a:stretch>
        </p:blipFill>
        <p:spPr>
          <a:xfrm>
            <a:off x="2629062" y="230188"/>
            <a:ext cx="6914053" cy="6379334"/>
          </a:xfrm>
          <a:prstGeom prst="rect">
            <a:avLst/>
          </a:prstGeom>
        </p:spPr>
      </p:pic>
    </p:spTree>
    <p:extLst>
      <p:ext uri="{BB962C8B-B14F-4D97-AF65-F5344CB8AC3E}">
        <p14:creationId xmlns:p14="http://schemas.microsoft.com/office/powerpoint/2010/main" val="4189502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descr="텍스트, 스크린샷, 도표, 그래프이(가) 표시된 사진&#10;&#10;AI 생성 콘텐츠는 정확하지 않을 수 있습니다.">
            <a:extLst>
              <a:ext uri="{FF2B5EF4-FFF2-40B4-BE49-F238E27FC236}">
                <a16:creationId xmlns:a16="http://schemas.microsoft.com/office/drawing/2014/main" id="{FAD6AFC4-7E66-883A-1A3A-66BF146F2277}"/>
              </a:ext>
            </a:extLst>
          </p:cNvPr>
          <p:cNvPicPr>
            <a:picLocks noChangeAspect="1"/>
          </p:cNvPicPr>
          <p:nvPr/>
        </p:nvPicPr>
        <p:blipFill>
          <a:blip r:embed="rId2"/>
          <a:stretch>
            <a:fillRect/>
          </a:stretch>
        </p:blipFill>
        <p:spPr>
          <a:xfrm>
            <a:off x="2703443" y="238163"/>
            <a:ext cx="6848118" cy="6440933"/>
          </a:xfrm>
          <a:prstGeom prst="rect">
            <a:avLst/>
          </a:prstGeom>
        </p:spPr>
      </p:pic>
    </p:spTree>
    <p:extLst>
      <p:ext uri="{BB962C8B-B14F-4D97-AF65-F5344CB8AC3E}">
        <p14:creationId xmlns:p14="http://schemas.microsoft.com/office/powerpoint/2010/main" val="1341339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EA2030-88AF-BA3B-C9EE-A3BFD036BC5C}"/>
              </a:ext>
            </a:extLst>
          </p:cNvPr>
          <p:cNvSpPr>
            <a:spLocks noGrp="1"/>
          </p:cNvSpPr>
          <p:nvPr>
            <p:ph type="title"/>
          </p:nvPr>
        </p:nvSpPr>
        <p:spPr>
          <a:xfrm>
            <a:off x="838200" y="3128204"/>
            <a:ext cx="10515600" cy="1325563"/>
          </a:xfrm>
        </p:spPr>
        <p:txBody>
          <a:bodyPr>
            <a:normAutofit fontScale="90000"/>
          </a:bodyPr>
          <a:lstStyle/>
          <a:p>
            <a:r>
              <a:rPr lang="ko-KR" altLang="en-US" dirty="0"/>
              <a:t>주의할 점</a:t>
            </a:r>
            <a:r>
              <a:rPr lang="en-US" altLang="ko-KR" dirty="0"/>
              <a:t>!</a:t>
            </a:r>
            <a:br>
              <a:rPr lang="en-US" altLang="ko-KR" dirty="0"/>
            </a:br>
            <a:br>
              <a:rPr lang="en-US" altLang="ko-KR" dirty="0"/>
            </a:br>
            <a:r>
              <a:rPr lang="ko-KR" altLang="en-US" dirty="0"/>
              <a:t>해당 모델은 해당 </a:t>
            </a:r>
            <a:r>
              <a:rPr lang="ko-KR" altLang="en-US" dirty="0" err="1"/>
              <a:t>데이터만로</a:t>
            </a:r>
            <a:r>
              <a:rPr lang="ko-KR" altLang="en-US" dirty="0"/>
              <a:t> 분석이 힘든 이상치를 최대한 제거한 후 학습한 모델로 </a:t>
            </a:r>
            <a:r>
              <a:rPr lang="ko-KR" altLang="en-US" b="1" dirty="0"/>
              <a:t>평균적인 보험료</a:t>
            </a:r>
            <a:r>
              <a:rPr lang="ko-KR" altLang="en-US" dirty="0"/>
              <a:t>를 예측하는 모델임</a:t>
            </a:r>
            <a:br>
              <a:rPr lang="en-US" altLang="ko-KR" dirty="0"/>
            </a:br>
            <a:br>
              <a:rPr lang="ko-KR" altLang="en-US" dirty="0"/>
            </a:br>
            <a:r>
              <a:rPr lang="ko-KR" altLang="en-US" dirty="0"/>
              <a:t>이상치를 처음에 제거하는 것으로 특별한 사람들의 보험료를 예측하는 성적은 떨어지는 단점이 있으나</a:t>
            </a:r>
            <a:r>
              <a:rPr lang="en-US" altLang="ko-KR" dirty="0"/>
              <a:t>, </a:t>
            </a:r>
            <a:r>
              <a:rPr lang="ko-KR" altLang="en-US" dirty="0"/>
              <a:t>데이터셋 만을 가지고 파악하기 힘든 요인을 제거하여 학습을 진행 평균적인 보험료를 예측하는데 중점을 둠</a:t>
            </a:r>
            <a:br>
              <a:rPr lang="ko-KR" altLang="en-US" dirty="0"/>
            </a:br>
            <a:endParaRPr lang="ko-KR" altLang="en-US" dirty="0"/>
          </a:p>
        </p:txBody>
      </p:sp>
    </p:spTree>
    <p:extLst>
      <p:ext uri="{BB962C8B-B14F-4D97-AF65-F5344CB8AC3E}">
        <p14:creationId xmlns:p14="http://schemas.microsoft.com/office/powerpoint/2010/main" val="37287416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966891-058C-8A9E-CFC3-345214C146E0}"/>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B4BBE387-BF4A-11A2-AEFA-BD4C311E7436}"/>
              </a:ext>
            </a:extLst>
          </p:cNvPr>
          <p:cNvSpPr>
            <a:spLocks noGrp="1"/>
          </p:cNvSpPr>
          <p:nvPr>
            <p:ph idx="1"/>
          </p:nvPr>
        </p:nvSpPr>
        <p:spPr/>
        <p:txBody>
          <a:bodyPr/>
          <a:lstStyle/>
          <a:p>
            <a:endParaRPr lang="ko-KR" altLang="en-US" dirty="0"/>
          </a:p>
        </p:txBody>
      </p:sp>
      <p:pic>
        <p:nvPicPr>
          <p:cNvPr id="5" name="그림 4" descr="텍스트, 스크린샷, 폰트, 소프트웨어이(가) 표시된 사진&#10;&#10;AI 생성 콘텐츠는 정확하지 않을 수 있습니다.">
            <a:extLst>
              <a:ext uri="{FF2B5EF4-FFF2-40B4-BE49-F238E27FC236}">
                <a16:creationId xmlns:a16="http://schemas.microsoft.com/office/drawing/2014/main" id="{917DE2D0-BE94-D92E-9104-AD076EA339D2}"/>
              </a:ext>
            </a:extLst>
          </p:cNvPr>
          <p:cNvPicPr>
            <a:picLocks noChangeAspect="1"/>
          </p:cNvPicPr>
          <p:nvPr/>
        </p:nvPicPr>
        <p:blipFill>
          <a:blip r:embed="rId2"/>
          <a:stretch>
            <a:fillRect/>
          </a:stretch>
        </p:blipFill>
        <p:spPr>
          <a:xfrm>
            <a:off x="0" y="1080823"/>
            <a:ext cx="5790733" cy="4455273"/>
          </a:xfrm>
          <a:prstGeom prst="rect">
            <a:avLst/>
          </a:prstGeom>
        </p:spPr>
      </p:pic>
      <p:pic>
        <p:nvPicPr>
          <p:cNvPr id="7" name="그림 6" descr="텍스트, 스크린샷, 폰트, 번호이(가) 표시된 사진&#10;&#10;AI 생성 콘텐츠는 정확하지 않을 수 있습니다.">
            <a:extLst>
              <a:ext uri="{FF2B5EF4-FFF2-40B4-BE49-F238E27FC236}">
                <a16:creationId xmlns:a16="http://schemas.microsoft.com/office/drawing/2014/main" id="{D834B0C4-4EA1-E18E-C4EC-DAD3C086B159}"/>
              </a:ext>
            </a:extLst>
          </p:cNvPr>
          <p:cNvPicPr>
            <a:picLocks noChangeAspect="1"/>
          </p:cNvPicPr>
          <p:nvPr/>
        </p:nvPicPr>
        <p:blipFill>
          <a:blip r:embed="rId3"/>
          <a:stretch>
            <a:fillRect/>
          </a:stretch>
        </p:blipFill>
        <p:spPr>
          <a:xfrm>
            <a:off x="6088581" y="1249788"/>
            <a:ext cx="5798152" cy="3848986"/>
          </a:xfrm>
          <a:prstGeom prst="rect">
            <a:avLst/>
          </a:prstGeom>
        </p:spPr>
      </p:pic>
    </p:spTree>
    <p:extLst>
      <p:ext uri="{BB962C8B-B14F-4D97-AF65-F5344CB8AC3E}">
        <p14:creationId xmlns:p14="http://schemas.microsoft.com/office/powerpoint/2010/main" val="9083757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80FB533-D8AE-44D1-1736-EC549C2D194C}"/>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816251C6-3FA8-4125-D138-16EA976DAA2A}"/>
              </a:ext>
            </a:extLst>
          </p:cNvPr>
          <p:cNvSpPr>
            <a:spLocks noGrp="1"/>
          </p:cNvSpPr>
          <p:nvPr>
            <p:ph idx="1"/>
          </p:nvPr>
        </p:nvSpPr>
        <p:spPr/>
        <p:txBody>
          <a:bodyPr/>
          <a:lstStyle/>
          <a:p>
            <a:endParaRPr lang="ko-KR" altLang="en-US"/>
          </a:p>
        </p:txBody>
      </p:sp>
      <p:pic>
        <p:nvPicPr>
          <p:cNvPr id="5" name="그림 4" descr="텍스트, 폰트, 스크린샷, 번호이(가) 표시된 사진&#10;&#10;AI 생성 콘텐츠는 정확하지 않을 수 있습니다.">
            <a:extLst>
              <a:ext uri="{FF2B5EF4-FFF2-40B4-BE49-F238E27FC236}">
                <a16:creationId xmlns:a16="http://schemas.microsoft.com/office/drawing/2014/main" id="{9AAAAE2A-29CC-8104-DCC1-1FB2BDA3B102}"/>
              </a:ext>
            </a:extLst>
          </p:cNvPr>
          <p:cNvPicPr>
            <a:picLocks noChangeAspect="1"/>
          </p:cNvPicPr>
          <p:nvPr/>
        </p:nvPicPr>
        <p:blipFill>
          <a:blip r:embed="rId2"/>
          <a:stretch>
            <a:fillRect/>
          </a:stretch>
        </p:blipFill>
        <p:spPr>
          <a:xfrm>
            <a:off x="2363374" y="1948071"/>
            <a:ext cx="7816498" cy="2814552"/>
          </a:xfrm>
          <a:prstGeom prst="rect">
            <a:avLst/>
          </a:prstGeom>
        </p:spPr>
      </p:pic>
    </p:spTree>
    <p:extLst>
      <p:ext uri="{BB962C8B-B14F-4D97-AF65-F5344CB8AC3E}">
        <p14:creationId xmlns:p14="http://schemas.microsoft.com/office/powerpoint/2010/main" val="23814631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8BBAE40-9BCE-1ECD-7171-7950EF0C5FA6}"/>
            </a:ext>
          </a:extLst>
        </p:cNvPr>
        <p:cNvGrpSpPr/>
        <p:nvPr/>
      </p:nvGrpSpPr>
      <p:grpSpPr>
        <a:xfrm>
          <a:off x="0" y="0"/>
          <a:ext cx="0" cy="0"/>
          <a:chOff x="0" y="0"/>
          <a:chExt cx="0" cy="0"/>
        </a:xfrm>
      </p:grpSpPr>
      <p:sp>
        <p:nvSpPr>
          <p:cNvPr id="7" name="Freeform: Shape 6">
            <a:extLst>
              <a:ext uri="{FF2B5EF4-FFF2-40B4-BE49-F238E27FC236}">
                <a16:creationId xmlns:a16="http://schemas.microsoft.com/office/drawing/2014/main" id="{ABF60657-48B8-99FD-229F-3FFD2CFCC7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맑은 고딕" panose="02110004020202020204"/>
              <a:ea typeface="+mn-ea"/>
              <a:cs typeface="+mn-cs"/>
            </a:endParaRPr>
          </a:p>
        </p:txBody>
      </p:sp>
      <p:sp>
        <p:nvSpPr>
          <p:cNvPr id="9" name="Freeform: Shape 8">
            <a:extLst>
              <a:ext uri="{FF2B5EF4-FFF2-40B4-BE49-F238E27FC236}">
                <a16:creationId xmlns:a16="http://schemas.microsoft.com/office/drawing/2014/main" id="{3AB5B4CE-50FF-1229-6CDB-050754F15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맑은 고딕" panose="02110004020202020204"/>
              <a:ea typeface="+mn-ea"/>
              <a:cs typeface="+mn-cs"/>
            </a:endParaRPr>
          </a:p>
        </p:txBody>
      </p:sp>
      <p:sp>
        <p:nvSpPr>
          <p:cNvPr id="2" name="제목 1">
            <a:extLst>
              <a:ext uri="{FF2B5EF4-FFF2-40B4-BE49-F238E27FC236}">
                <a16:creationId xmlns:a16="http://schemas.microsoft.com/office/drawing/2014/main" id="{0EBFAB3C-B562-3163-6AEE-2CF4D65F02FE}"/>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pPr latinLnBrk="0"/>
            <a:r>
              <a:rPr lang="ko-KR" altLang="en-US" sz="5400" dirty="0">
                <a:solidFill>
                  <a:schemeClr val="bg1">
                    <a:lumMod val="95000"/>
                    <a:lumOff val="5000"/>
                  </a:schemeClr>
                </a:solidFill>
              </a:rPr>
              <a:t>다른 모델과의 비교</a:t>
            </a:r>
          </a:p>
        </p:txBody>
      </p:sp>
    </p:spTree>
    <p:extLst>
      <p:ext uri="{BB962C8B-B14F-4D97-AF65-F5344CB8AC3E}">
        <p14:creationId xmlns:p14="http://schemas.microsoft.com/office/powerpoint/2010/main" val="289412408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A069C-9B73-FE84-3FBB-ED0BBB7487D4}"/>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6AC59083-D043-6A6D-C68E-C2923617A348}"/>
              </a:ext>
            </a:extLst>
          </p:cNvPr>
          <p:cNvGrpSpPr/>
          <p:nvPr/>
        </p:nvGrpSpPr>
        <p:grpSpPr>
          <a:xfrm>
            <a:off x="1154546" y="1253218"/>
            <a:ext cx="9144000" cy="5604782"/>
            <a:chOff x="0" y="406400"/>
            <a:chExt cx="10993452" cy="6214382"/>
          </a:xfrm>
        </p:grpSpPr>
        <p:pic>
          <p:nvPicPr>
            <p:cNvPr id="3" name="그림 2">
              <a:extLst>
                <a:ext uri="{FF2B5EF4-FFF2-40B4-BE49-F238E27FC236}">
                  <a16:creationId xmlns:a16="http://schemas.microsoft.com/office/drawing/2014/main" id="{9E8DD56A-8D0F-B8ED-799A-7723CA2A4C64}"/>
                </a:ext>
              </a:extLst>
            </p:cNvPr>
            <p:cNvPicPr>
              <a:picLocks noChangeAspect="1"/>
            </p:cNvPicPr>
            <p:nvPr/>
          </p:nvPicPr>
          <p:blipFill>
            <a:blip r:embed="rId2"/>
            <a:stretch>
              <a:fillRect/>
            </a:stretch>
          </p:blipFill>
          <p:spPr>
            <a:xfrm>
              <a:off x="0" y="406400"/>
              <a:ext cx="7647708" cy="4041556"/>
            </a:xfrm>
            <a:prstGeom prst="rect">
              <a:avLst/>
            </a:prstGeom>
          </p:spPr>
        </p:pic>
        <p:pic>
          <p:nvPicPr>
            <p:cNvPr id="7" name="그림 6">
              <a:extLst>
                <a:ext uri="{FF2B5EF4-FFF2-40B4-BE49-F238E27FC236}">
                  <a16:creationId xmlns:a16="http://schemas.microsoft.com/office/drawing/2014/main" id="{C812CCF0-CAE7-3B88-A0A6-41E5CA7F038B}"/>
                </a:ext>
              </a:extLst>
            </p:cNvPr>
            <p:cNvPicPr>
              <a:picLocks noChangeAspect="1"/>
            </p:cNvPicPr>
            <p:nvPr/>
          </p:nvPicPr>
          <p:blipFill>
            <a:blip r:embed="rId3"/>
            <a:stretch>
              <a:fillRect/>
            </a:stretch>
          </p:blipFill>
          <p:spPr>
            <a:xfrm>
              <a:off x="1" y="4447955"/>
              <a:ext cx="7647708" cy="2172827"/>
            </a:xfrm>
            <a:prstGeom prst="rect">
              <a:avLst/>
            </a:prstGeom>
          </p:spPr>
        </p:pic>
        <p:cxnSp>
          <p:nvCxnSpPr>
            <p:cNvPr id="9" name="직선 화살표 연결선 8">
              <a:extLst>
                <a:ext uri="{FF2B5EF4-FFF2-40B4-BE49-F238E27FC236}">
                  <a16:creationId xmlns:a16="http://schemas.microsoft.com/office/drawing/2014/main" id="{E140D081-BB1B-7BB3-782B-73675A21498B}"/>
                </a:ext>
              </a:extLst>
            </p:cNvPr>
            <p:cNvCxnSpPr>
              <a:cxnSpLocks/>
            </p:cNvCxnSpPr>
            <p:nvPr/>
          </p:nvCxnSpPr>
          <p:spPr>
            <a:xfrm flipV="1">
              <a:off x="1911926" y="4742872"/>
              <a:ext cx="6622474" cy="13161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타원 9">
              <a:extLst>
                <a:ext uri="{FF2B5EF4-FFF2-40B4-BE49-F238E27FC236}">
                  <a16:creationId xmlns:a16="http://schemas.microsoft.com/office/drawing/2014/main" id="{50C6E47D-60D6-7CE6-84F0-01B7B1E5560F}"/>
                </a:ext>
              </a:extLst>
            </p:cNvPr>
            <p:cNvSpPr/>
            <p:nvPr/>
          </p:nvSpPr>
          <p:spPr>
            <a:xfrm>
              <a:off x="1246909" y="5892800"/>
              <a:ext cx="665018" cy="3232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 name="직선 화살표 연결선 10">
              <a:extLst>
                <a:ext uri="{FF2B5EF4-FFF2-40B4-BE49-F238E27FC236}">
                  <a16:creationId xmlns:a16="http://schemas.microsoft.com/office/drawing/2014/main" id="{83565762-6586-3A3B-94D0-AA46458FD003}"/>
                </a:ext>
              </a:extLst>
            </p:cNvPr>
            <p:cNvCxnSpPr>
              <a:cxnSpLocks/>
            </p:cNvCxnSpPr>
            <p:nvPr/>
          </p:nvCxnSpPr>
          <p:spPr>
            <a:xfrm flipV="1">
              <a:off x="1911927" y="2955636"/>
              <a:ext cx="6622473" cy="26046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타원 11">
              <a:extLst>
                <a:ext uri="{FF2B5EF4-FFF2-40B4-BE49-F238E27FC236}">
                  <a16:creationId xmlns:a16="http://schemas.microsoft.com/office/drawing/2014/main" id="{DA1EB820-8365-61BE-6BC0-07EC1805AA14}"/>
                </a:ext>
              </a:extLst>
            </p:cNvPr>
            <p:cNvSpPr/>
            <p:nvPr/>
          </p:nvSpPr>
          <p:spPr>
            <a:xfrm>
              <a:off x="1246909" y="5403272"/>
              <a:ext cx="665018" cy="3232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67262529-25E2-CA81-0A30-A65033F9DB46}"/>
                </a:ext>
              </a:extLst>
            </p:cNvPr>
            <p:cNvSpPr/>
            <p:nvPr/>
          </p:nvSpPr>
          <p:spPr>
            <a:xfrm>
              <a:off x="8552871" y="2498436"/>
              <a:ext cx="2440581"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solidFill>
                    <a:sysClr val="windowText" lastClr="000000"/>
                  </a:solidFill>
                </a:rPr>
                <a:t>공부가 아닌 암기</a:t>
              </a:r>
            </a:p>
          </p:txBody>
        </p:sp>
        <p:sp>
          <p:nvSpPr>
            <p:cNvPr id="19" name="직사각형 18">
              <a:extLst>
                <a:ext uri="{FF2B5EF4-FFF2-40B4-BE49-F238E27FC236}">
                  <a16:creationId xmlns:a16="http://schemas.microsoft.com/office/drawing/2014/main" id="{D6C028FB-C3C3-4AB0-CBFC-41BBA13D34F3}"/>
                </a:ext>
              </a:extLst>
            </p:cNvPr>
            <p:cNvSpPr/>
            <p:nvPr/>
          </p:nvSpPr>
          <p:spPr>
            <a:xfrm>
              <a:off x="8552871" y="4285672"/>
              <a:ext cx="2440581"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solidFill>
                    <a:sysClr val="windowText" lastClr="000000"/>
                  </a:solidFill>
                </a:rPr>
                <a:t>이상치 제거 및</a:t>
              </a:r>
              <a:endParaRPr lang="en-US" altLang="ko-KR" dirty="0">
                <a:solidFill>
                  <a:sysClr val="windowText" lastClr="000000"/>
                </a:solidFill>
              </a:endParaRPr>
            </a:p>
            <a:p>
              <a:pPr algn="ctr"/>
              <a:r>
                <a:rPr lang="ko-KR" altLang="en-US" dirty="0">
                  <a:solidFill>
                    <a:sysClr val="windowText" lastClr="000000"/>
                  </a:solidFill>
                </a:rPr>
                <a:t>로그 변환 </a:t>
              </a:r>
              <a:r>
                <a:rPr lang="ko-KR" altLang="en-US" dirty="0" err="1">
                  <a:solidFill>
                    <a:sysClr val="windowText" lastClr="000000"/>
                  </a:solidFill>
                </a:rPr>
                <a:t>미실행</a:t>
              </a:r>
              <a:endParaRPr lang="ko-KR" altLang="en-US" dirty="0">
                <a:solidFill>
                  <a:sysClr val="windowText" lastClr="000000"/>
                </a:solidFill>
              </a:endParaRPr>
            </a:p>
          </p:txBody>
        </p:sp>
      </p:grpSp>
      <p:sp>
        <p:nvSpPr>
          <p:cNvPr id="21" name="TextBox 20">
            <a:extLst>
              <a:ext uri="{FF2B5EF4-FFF2-40B4-BE49-F238E27FC236}">
                <a16:creationId xmlns:a16="http://schemas.microsoft.com/office/drawing/2014/main" id="{ADBABEDD-E6B3-3DB4-F1E0-9A9CD77DA61D}"/>
              </a:ext>
            </a:extLst>
          </p:cNvPr>
          <p:cNvSpPr txBox="1"/>
          <p:nvPr/>
        </p:nvSpPr>
        <p:spPr>
          <a:xfrm>
            <a:off x="2451192" y="834603"/>
            <a:ext cx="3767826" cy="276999"/>
          </a:xfrm>
          <a:prstGeom prst="rect">
            <a:avLst/>
          </a:prstGeom>
          <a:noFill/>
        </p:spPr>
        <p:txBody>
          <a:bodyPr wrap="none" rtlCol="0">
            <a:spAutoFit/>
          </a:bodyPr>
          <a:lstStyle/>
          <a:p>
            <a:r>
              <a:rPr lang="en-US" altLang="ko-KR" sz="1200" dirty="0"/>
              <a:t>medical-expense-99-accuracy-without-tuning.ipynb</a:t>
            </a:r>
            <a:endParaRPr lang="ko-KR" altLang="en-US" sz="1200" dirty="0"/>
          </a:p>
        </p:txBody>
      </p:sp>
      <p:sp>
        <p:nvSpPr>
          <p:cNvPr id="22" name="TextBox 21">
            <a:extLst>
              <a:ext uri="{FF2B5EF4-FFF2-40B4-BE49-F238E27FC236}">
                <a16:creationId xmlns:a16="http://schemas.microsoft.com/office/drawing/2014/main" id="{9F2328C4-2E64-368F-FBA9-E79D0DE6C55C}"/>
              </a:ext>
            </a:extLst>
          </p:cNvPr>
          <p:cNvSpPr txBox="1"/>
          <p:nvPr/>
        </p:nvSpPr>
        <p:spPr>
          <a:xfrm>
            <a:off x="2191684" y="437184"/>
            <a:ext cx="4327127" cy="369332"/>
          </a:xfrm>
          <a:prstGeom prst="rect">
            <a:avLst/>
          </a:prstGeom>
          <a:noFill/>
        </p:spPr>
        <p:txBody>
          <a:bodyPr wrap="square" rtlCol="0">
            <a:spAutoFit/>
          </a:bodyPr>
          <a:lstStyle/>
          <a:p>
            <a:pPr algn="ctr"/>
            <a:r>
              <a:rPr lang="en-US" altLang="ko-KR" b="1" dirty="0"/>
              <a:t>99percent </a:t>
            </a:r>
            <a:r>
              <a:rPr lang="ko-KR" altLang="en-US" b="1" dirty="0"/>
              <a:t>모델</a:t>
            </a:r>
          </a:p>
        </p:txBody>
      </p:sp>
    </p:spTree>
    <p:extLst>
      <p:ext uri="{BB962C8B-B14F-4D97-AF65-F5344CB8AC3E}">
        <p14:creationId xmlns:p14="http://schemas.microsoft.com/office/powerpoint/2010/main" val="31374893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2536F9-9F2B-80F7-6792-38BCD42D6A80}"/>
              </a:ext>
            </a:extLst>
          </p:cNvPr>
          <p:cNvSpPr txBox="1"/>
          <p:nvPr/>
        </p:nvSpPr>
        <p:spPr>
          <a:xfrm>
            <a:off x="2470726" y="2203072"/>
            <a:ext cx="7250546" cy="4124206"/>
          </a:xfrm>
          <a:prstGeom prst="rect">
            <a:avLst/>
          </a:prstGeom>
          <a:noFill/>
        </p:spPr>
        <p:txBody>
          <a:bodyPr wrap="square">
            <a:spAutoFit/>
          </a:bodyPr>
          <a:lstStyle/>
          <a:p>
            <a:pPr algn="ctr"/>
            <a:r>
              <a:rPr lang="ko-KR" altLang="en-US" sz="1600" b="1" dirty="0"/>
              <a:t>99Percent 모델</a:t>
            </a:r>
            <a:endParaRPr lang="en-US" altLang="ko-KR" sz="1600" b="1" dirty="0"/>
          </a:p>
          <a:p>
            <a:pPr algn="ctr"/>
            <a:r>
              <a:rPr lang="ko-KR" altLang="en-US" sz="1600" dirty="0"/>
              <a:t>이상치를 그대로 학습</a:t>
            </a:r>
            <a:r>
              <a:rPr lang="en-US" altLang="ko-KR" sz="1600" dirty="0"/>
              <a:t>.</a:t>
            </a:r>
          </a:p>
          <a:p>
            <a:pPr algn="ctr"/>
            <a:r>
              <a:rPr lang="ko-KR" altLang="en-US" sz="1600" dirty="0"/>
              <a:t>수치적 점수 ↑</a:t>
            </a:r>
            <a:endParaRPr lang="en-US" altLang="ko-KR" sz="1600" dirty="0"/>
          </a:p>
          <a:p>
            <a:pPr algn="ctr"/>
            <a:r>
              <a:rPr lang="ko-KR" altLang="en-US" sz="1600" b="1" dirty="0" err="1">
                <a:solidFill>
                  <a:srgbClr val="C00000"/>
                </a:solidFill>
              </a:rPr>
              <a:t>과적합</a:t>
            </a:r>
            <a:r>
              <a:rPr lang="ko-KR" altLang="en-US" sz="1600" b="1" dirty="0">
                <a:solidFill>
                  <a:srgbClr val="C00000"/>
                </a:solidFill>
              </a:rPr>
              <a:t> 예상</a:t>
            </a:r>
            <a:endParaRPr lang="en-US" altLang="ko-KR" sz="1600" b="1" dirty="0">
              <a:solidFill>
                <a:srgbClr val="C00000"/>
              </a:solidFill>
            </a:endParaRPr>
          </a:p>
          <a:p>
            <a:pPr algn="ctr"/>
            <a:endParaRPr lang="en-US" altLang="ko-KR" dirty="0"/>
          </a:p>
          <a:p>
            <a:pPr algn="ctr"/>
            <a:endParaRPr lang="en-US" altLang="ko-KR" dirty="0"/>
          </a:p>
          <a:p>
            <a:pPr algn="ctr"/>
            <a:r>
              <a:rPr lang="en-US" altLang="ko-KR" dirty="0"/>
              <a:t>VS</a:t>
            </a:r>
          </a:p>
          <a:p>
            <a:pPr algn="ctr"/>
            <a:endParaRPr lang="en-US" altLang="ko-KR" dirty="0"/>
          </a:p>
          <a:p>
            <a:pPr algn="ctr"/>
            <a:r>
              <a:rPr lang="ko-KR" altLang="en-US" b="1" dirty="0"/>
              <a:t>갤럭시와 </a:t>
            </a:r>
            <a:r>
              <a:rPr lang="ko-KR" altLang="en-US" b="1" dirty="0" err="1"/>
              <a:t>아이폰들</a:t>
            </a:r>
            <a:endParaRPr lang="en-US" altLang="ko-KR" b="1" dirty="0"/>
          </a:p>
          <a:p>
            <a:pPr algn="ctr"/>
            <a:endParaRPr lang="en-US" altLang="ko-KR" dirty="0"/>
          </a:p>
          <a:p>
            <a:pPr algn="ctr"/>
            <a:r>
              <a:rPr lang="ko-KR" altLang="en-US" dirty="0"/>
              <a:t>IQR 방식을 도입</a:t>
            </a:r>
            <a:endParaRPr lang="en-US" altLang="ko-KR" dirty="0"/>
          </a:p>
          <a:p>
            <a:pPr algn="ctr"/>
            <a:r>
              <a:rPr lang="ko-KR" altLang="en-US" b="1" dirty="0">
                <a:solidFill>
                  <a:srgbClr val="002060"/>
                </a:solidFill>
              </a:rPr>
              <a:t>이상치 제거 및 </a:t>
            </a:r>
            <a:r>
              <a:rPr lang="ko-KR" altLang="en-US" b="1" dirty="0" err="1">
                <a:solidFill>
                  <a:srgbClr val="002060"/>
                </a:solidFill>
              </a:rPr>
              <a:t>과적합</a:t>
            </a:r>
            <a:r>
              <a:rPr lang="ko-KR" altLang="en-US" b="1" dirty="0">
                <a:solidFill>
                  <a:srgbClr val="002060"/>
                </a:solidFill>
              </a:rPr>
              <a:t> 방지</a:t>
            </a:r>
            <a:r>
              <a:rPr lang="en-US" altLang="ko-KR" b="1" dirty="0"/>
              <a:t>.</a:t>
            </a:r>
          </a:p>
          <a:p>
            <a:pPr algn="ctr"/>
            <a:endParaRPr lang="en-US" altLang="ko-KR" dirty="0"/>
          </a:p>
          <a:p>
            <a:pPr algn="ctr"/>
            <a:r>
              <a:rPr lang="ko-KR" altLang="en-US" dirty="0"/>
              <a:t>편향된 비용 데이터 방지</a:t>
            </a:r>
            <a:endParaRPr lang="en-US" altLang="ko-KR" dirty="0"/>
          </a:p>
          <a:p>
            <a:pPr algn="ctr"/>
            <a:r>
              <a:rPr lang="ko-KR" altLang="en-US" b="1" dirty="0">
                <a:solidFill>
                  <a:srgbClr val="002060"/>
                </a:solidFill>
              </a:rPr>
              <a:t>타겟 로그 변환을 적용하여 정규분포화 .</a:t>
            </a:r>
            <a:endParaRPr lang="en-US" altLang="ko-KR" b="1" dirty="0">
              <a:solidFill>
                <a:srgbClr val="002060"/>
              </a:solidFill>
            </a:endParaRPr>
          </a:p>
        </p:txBody>
      </p:sp>
      <p:sp>
        <p:nvSpPr>
          <p:cNvPr id="6" name="TextBox 5">
            <a:extLst>
              <a:ext uri="{FF2B5EF4-FFF2-40B4-BE49-F238E27FC236}">
                <a16:creationId xmlns:a16="http://schemas.microsoft.com/office/drawing/2014/main" id="{DC42A28F-3897-06D4-66F1-C4002463B496}"/>
              </a:ext>
            </a:extLst>
          </p:cNvPr>
          <p:cNvSpPr txBox="1"/>
          <p:nvPr/>
        </p:nvSpPr>
        <p:spPr>
          <a:xfrm>
            <a:off x="4405472" y="979056"/>
            <a:ext cx="3381054" cy="523220"/>
          </a:xfrm>
          <a:prstGeom prst="rect">
            <a:avLst/>
          </a:prstGeom>
          <a:noFill/>
        </p:spPr>
        <p:txBody>
          <a:bodyPr wrap="none" rtlCol="0">
            <a:spAutoFit/>
          </a:bodyPr>
          <a:lstStyle/>
          <a:p>
            <a:r>
              <a:rPr lang="en-US" altLang="ko-KR" sz="2800" b="1" dirty="0"/>
              <a:t>1. </a:t>
            </a:r>
            <a:r>
              <a:rPr lang="ko-KR" altLang="en-US" sz="2800" b="1" dirty="0"/>
              <a:t>이상치 제거 여부</a:t>
            </a:r>
          </a:p>
        </p:txBody>
      </p:sp>
    </p:spTree>
    <p:extLst>
      <p:ext uri="{BB962C8B-B14F-4D97-AF65-F5344CB8AC3E}">
        <p14:creationId xmlns:p14="http://schemas.microsoft.com/office/powerpoint/2010/main" val="25588370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FC5BD-BBCA-2DE2-A7DD-2BA2EA067693}"/>
            </a:ext>
          </a:extLst>
        </p:cNvPr>
        <p:cNvGrpSpPr/>
        <p:nvPr/>
      </p:nvGrpSpPr>
      <p:grpSpPr>
        <a:xfrm>
          <a:off x="0" y="0"/>
          <a:ext cx="0" cy="0"/>
          <a:chOff x="0" y="0"/>
          <a:chExt cx="0" cy="0"/>
        </a:xfrm>
      </p:grpSpPr>
      <p:pic>
        <p:nvPicPr>
          <p:cNvPr id="4" name="그림 3" descr="텍스트, 스크린샷, 폰트이(가) 표시된 사진">
            <a:extLst>
              <a:ext uri="{FF2B5EF4-FFF2-40B4-BE49-F238E27FC236}">
                <a16:creationId xmlns:a16="http://schemas.microsoft.com/office/drawing/2014/main" id="{0BF62F6B-D968-520F-082B-933051D13955}"/>
              </a:ext>
            </a:extLst>
          </p:cNvPr>
          <p:cNvPicPr>
            <a:picLocks noChangeAspect="1"/>
          </p:cNvPicPr>
          <p:nvPr/>
        </p:nvPicPr>
        <p:blipFill>
          <a:blip r:embed="rId2"/>
          <a:stretch>
            <a:fillRect/>
          </a:stretch>
        </p:blipFill>
        <p:spPr>
          <a:xfrm>
            <a:off x="2498435" y="877520"/>
            <a:ext cx="7195128" cy="4736180"/>
          </a:xfrm>
          <a:prstGeom prst="rect">
            <a:avLst/>
          </a:prstGeom>
        </p:spPr>
      </p:pic>
      <p:sp>
        <p:nvSpPr>
          <p:cNvPr id="6" name="TextBox 5">
            <a:extLst>
              <a:ext uri="{FF2B5EF4-FFF2-40B4-BE49-F238E27FC236}">
                <a16:creationId xmlns:a16="http://schemas.microsoft.com/office/drawing/2014/main" id="{51F386D0-DF0B-75BD-55C4-BD959EA35B3B}"/>
              </a:ext>
            </a:extLst>
          </p:cNvPr>
          <p:cNvSpPr txBox="1"/>
          <p:nvPr/>
        </p:nvSpPr>
        <p:spPr>
          <a:xfrm>
            <a:off x="4726874" y="5788073"/>
            <a:ext cx="2738250" cy="369332"/>
          </a:xfrm>
          <a:prstGeom prst="rect">
            <a:avLst/>
          </a:prstGeom>
          <a:noFill/>
        </p:spPr>
        <p:txBody>
          <a:bodyPr wrap="none" rtlCol="0">
            <a:spAutoFit/>
          </a:bodyPr>
          <a:lstStyle/>
          <a:p>
            <a:r>
              <a:rPr lang="ko-KR" altLang="en-US" dirty="0"/>
              <a:t>이상치 제거를 위한 노력</a:t>
            </a:r>
          </a:p>
        </p:txBody>
      </p:sp>
      <p:sp>
        <p:nvSpPr>
          <p:cNvPr id="7" name="TextBox 6">
            <a:extLst>
              <a:ext uri="{FF2B5EF4-FFF2-40B4-BE49-F238E27FC236}">
                <a16:creationId xmlns:a16="http://schemas.microsoft.com/office/drawing/2014/main" id="{F988FE54-20BD-F9AD-089F-8D45F492A3FA}"/>
              </a:ext>
            </a:extLst>
          </p:cNvPr>
          <p:cNvSpPr txBox="1"/>
          <p:nvPr/>
        </p:nvSpPr>
        <p:spPr>
          <a:xfrm>
            <a:off x="3955355" y="333815"/>
            <a:ext cx="4281289" cy="369332"/>
          </a:xfrm>
          <a:prstGeom prst="rect">
            <a:avLst/>
          </a:prstGeom>
          <a:noFill/>
        </p:spPr>
        <p:txBody>
          <a:bodyPr wrap="square" rtlCol="0">
            <a:spAutoFit/>
          </a:bodyPr>
          <a:lstStyle/>
          <a:p>
            <a:pPr algn="ctr"/>
            <a:r>
              <a:rPr lang="ko-KR" altLang="en-US" b="1" dirty="0"/>
              <a:t>갤럭시와 </a:t>
            </a:r>
            <a:r>
              <a:rPr lang="ko-KR" altLang="en-US" b="1" dirty="0" err="1"/>
              <a:t>아이폰들</a:t>
            </a:r>
            <a:endParaRPr lang="ko-KR" altLang="en-US" b="1" dirty="0"/>
          </a:p>
        </p:txBody>
      </p:sp>
    </p:spTree>
    <p:extLst>
      <p:ext uri="{BB962C8B-B14F-4D97-AF65-F5344CB8AC3E}">
        <p14:creationId xmlns:p14="http://schemas.microsoft.com/office/powerpoint/2010/main" val="2770323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F29D2-1A02-E301-9DCE-24990FE7D92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B3310154-A155-5E1C-1922-45BD41565C97}"/>
              </a:ext>
            </a:extLst>
          </p:cNvPr>
          <p:cNvSpPr txBox="1"/>
          <p:nvPr/>
        </p:nvSpPr>
        <p:spPr>
          <a:xfrm>
            <a:off x="6953813" y="4988311"/>
            <a:ext cx="4281289" cy="369332"/>
          </a:xfrm>
          <a:prstGeom prst="rect">
            <a:avLst/>
          </a:prstGeom>
          <a:noFill/>
        </p:spPr>
        <p:txBody>
          <a:bodyPr wrap="square" rtlCol="0">
            <a:spAutoFit/>
          </a:bodyPr>
          <a:lstStyle/>
          <a:p>
            <a:pPr algn="ctr"/>
            <a:r>
              <a:rPr lang="ko-KR" altLang="en-US" dirty="0" err="1"/>
              <a:t>타겟값을</a:t>
            </a:r>
            <a:r>
              <a:rPr lang="ko-KR" altLang="en-US" dirty="0"/>
              <a:t> </a:t>
            </a:r>
            <a:r>
              <a:rPr lang="ko-KR" altLang="en-US" b="1" dirty="0"/>
              <a:t>로그로 변환 </a:t>
            </a:r>
          </a:p>
        </p:txBody>
      </p:sp>
      <p:pic>
        <p:nvPicPr>
          <p:cNvPr id="5" name="그림 4">
            <a:extLst>
              <a:ext uri="{FF2B5EF4-FFF2-40B4-BE49-F238E27FC236}">
                <a16:creationId xmlns:a16="http://schemas.microsoft.com/office/drawing/2014/main" id="{2E313A25-29C4-3F9C-05B4-3E14FB41CA6A}"/>
              </a:ext>
            </a:extLst>
          </p:cNvPr>
          <p:cNvPicPr>
            <a:picLocks noChangeAspect="1"/>
          </p:cNvPicPr>
          <p:nvPr/>
        </p:nvPicPr>
        <p:blipFill>
          <a:blip r:embed="rId2"/>
          <a:stretch>
            <a:fillRect/>
          </a:stretch>
        </p:blipFill>
        <p:spPr>
          <a:xfrm>
            <a:off x="6953814" y="1339150"/>
            <a:ext cx="4281289" cy="3495964"/>
          </a:xfrm>
          <a:prstGeom prst="rect">
            <a:avLst/>
          </a:prstGeom>
        </p:spPr>
      </p:pic>
      <p:pic>
        <p:nvPicPr>
          <p:cNvPr id="7" name="그림 6">
            <a:extLst>
              <a:ext uri="{FF2B5EF4-FFF2-40B4-BE49-F238E27FC236}">
                <a16:creationId xmlns:a16="http://schemas.microsoft.com/office/drawing/2014/main" id="{676D01E8-6095-92F7-DEB5-19F7FC500E8E}"/>
              </a:ext>
            </a:extLst>
          </p:cNvPr>
          <p:cNvPicPr>
            <a:picLocks noChangeAspect="1"/>
          </p:cNvPicPr>
          <p:nvPr/>
        </p:nvPicPr>
        <p:blipFill>
          <a:blip r:embed="rId3"/>
          <a:stretch>
            <a:fillRect/>
          </a:stretch>
        </p:blipFill>
        <p:spPr>
          <a:xfrm>
            <a:off x="876287" y="1339150"/>
            <a:ext cx="4281289" cy="3495964"/>
          </a:xfrm>
          <a:prstGeom prst="rect">
            <a:avLst/>
          </a:prstGeom>
        </p:spPr>
      </p:pic>
      <p:sp>
        <p:nvSpPr>
          <p:cNvPr id="9" name="TextBox 8">
            <a:extLst>
              <a:ext uri="{FF2B5EF4-FFF2-40B4-BE49-F238E27FC236}">
                <a16:creationId xmlns:a16="http://schemas.microsoft.com/office/drawing/2014/main" id="{6FAFC1F2-1D52-3590-13B5-1BDF21728A6B}"/>
              </a:ext>
            </a:extLst>
          </p:cNvPr>
          <p:cNvSpPr txBox="1"/>
          <p:nvPr/>
        </p:nvSpPr>
        <p:spPr>
          <a:xfrm>
            <a:off x="876286" y="830598"/>
            <a:ext cx="4281289" cy="369332"/>
          </a:xfrm>
          <a:prstGeom prst="rect">
            <a:avLst/>
          </a:prstGeom>
          <a:noFill/>
        </p:spPr>
        <p:txBody>
          <a:bodyPr wrap="square" rtlCol="0">
            <a:spAutoFit/>
          </a:bodyPr>
          <a:lstStyle/>
          <a:p>
            <a:pPr algn="ctr"/>
            <a:r>
              <a:rPr lang="en-US" altLang="ko-KR" b="1" dirty="0"/>
              <a:t>99percent </a:t>
            </a:r>
            <a:r>
              <a:rPr lang="ko-KR" altLang="en-US" b="1" dirty="0"/>
              <a:t>모델</a:t>
            </a:r>
          </a:p>
        </p:txBody>
      </p:sp>
      <p:sp>
        <p:nvSpPr>
          <p:cNvPr id="10" name="TextBox 9">
            <a:extLst>
              <a:ext uri="{FF2B5EF4-FFF2-40B4-BE49-F238E27FC236}">
                <a16:creationId xmlns:a16="http://schemas.microsoft.com/office/drawing/2014/main" id="{98691B05-9632-2CC7-8849-4F29D10E1660}"/>
              </a:ext>
            </a:extLst>
          </p:cNvPr>
          <p:cNvSpPr txBox="1"/>
          <p:nvPr/>
        </p:nvSpPr>
        <p:spPr>
          <a:xfrm>
            <a:off x="6953814" y="830598"/>
            <a:ext cx="4281289" cy="369332"/>
          </a:xfrm>
          <a:prstGeom prst="rect">
            <a:avLst/>
          </a:prstGeom>
          <a:noFill/>
        </p:spPr>
        <p:txBody>
          <a:bodyPr wrap="square" rtlCol="0">
            <a:spAutoFit/>
          </a:bodyPr>
          <a:lstStyle/>
          <a:p>
            <a:pPr algn="ctr"/>
            <a:r>
              <a:rPr lang="ko-KR" altLang="en-US" b="1" dirty="0"/>
              <a:t>갤럭시와 </a:t>
            </a:r>
            <a:r>
              <a:rPr lang="ko-KR" altLang="en-US" b="1" dirty="0" err="1"/>
              <a:t>아이폰들</a:t>
            </a:r>
            <a:endParaRPr lang="ko-KR" altLang="en-US" b="1" dirty="0"/>
          </a:p>
        </p:txBody>
      </p:sp>
      <p:sp>
        <p:nvSpPr>
          <p:cNvPr id="11" name="TextBox 10">
            <a:extLst>
              <a:ext uri="{FF2B5EF4-FFF2-40B4-BE49-F238E27FC236}">
                <a16:creationId xmlns:a16="http://schemas.microsoft.com/office/drawing/2014/main" id="{2E427E0B-B948-F02C-6F8D-2CDB81D40CDA}"/>
              </a:ext>
            </a:extLst>
          </p:cNvPr>
          <p:cNvSpPr txBox="1"/>
          <p:nvPr/>
        </p:nvSpPr>
        <p:spPr>
          <a:xfrm>
            <a:off x="876285" y="4988311"/>
            <a:ext cx="4281289" cy="369332"/>
          </a:xfrm>
          <a:prstGeom prst="rect">
            <a:avLst/>
          </a:prstGeom>
          <a:noFill/>
        </p:spPr>
        <p:txBody>
          <a:bodyPr wrap="square" rtlCol="0">
            <a:spAutoFit/>
          </a:bodyPr>
          <a:lstStyle/>
          <a:p>
            <a:pPr algn="ctr"/>
            <a:r>
              <a:rPr lang="ko-KR" altLang="en-US" dirty="0" err="1"/>
              <a:t>타겟값을</a:t>
            </a:r>
            <a:r>
              <a:rPr lang="ko-KR" altLang="en-US" dirty="0"/>
              <a:t> 그대로 작업</a:t>
            </a:r>
            <a:endParaRPr lang="ko-KR" altLang="en-US" b="1" dirty="0"/>
          </a:p>
        </p:txBody>
      </p:sp>
    </p:spTree>
    <p:extLst>
      <p:ext uri="{BB962C8B-B14F-4D97-AF65-F5344CB8AC3E}">
        <p14:creationId xmlns:p14="http://schemas.microsoft.com/office/powerpoint/2010/main" val="38568422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79282E6-26AE-C965-732C-7045B42BB9BF}"/>
              </a:ext>
            </a:extLst>
          </p:cNvPr>
          <p:cNvSpPr txBox="1"/>
          <p:nvPr/>
        </p:nvSpPr>
        <p:spPr>
          <a:xfrm>
            <a:off x="2470726" y="2203072"/>
            <a:ext cx="7250546" cy="3847207"/>
          </a:xfrm>
          <a:prstGeom prst="rect">
            <a:avLst/>
          </a:prstGeom>
          <a:noFill/>
        </p:spPr>
        <p:txBody>
          <a:bodyPr wrap="square">
            <a:spAutoFit/>
          </a:bodyPr>
          <a:lstStyle/>
          <a:p>
            <a:pPr algn="ctr"/>
            <a:r>
              <a:rPr lang="ko-KR" altLang="en-US" sz="1600" b="1" dirty="0"/>
              <a:t>99Percent 모델</a:t>
            </a:r>
            <a:endParaRPr lang="en-US" altLang="ko-KR" sz="1600" b="1" dirty="0"/>
          </a:p>
          <a:p>
            <a:pPr algn="ctr"/>
            <a:r>
              <a:rPr lang="ko-KR" altLang="en-US" sz="1600" dirty="0"/>
              <a:t>학습 전 전체 데이터에 스케일링 적용</a:t>
            </a:r>
            <a:r>
              <a:rPr lang="en-US" altLang="ko-KR" sz="1600" dirty="0"/>
              <a:t>.</a:t>
            </a:r>
          </a:p>
          <a:p>
            <a:pPr algn="ctr"/>
            <a:r>
              <a:rPr lang="ko-KR" altLang="en-US" sz="1600" dirty="0"/>
              <a:t>테스트 전</a:t>
            </a:r>
            <a:r>
              <a:rPr lang="en-US" altLang="ko-KR" sz="1600" dirty="0"/>
              <a:t> </a:t>
            </a:r>
            <a:r>
              <a:rPr lang="ko-KR" altLang="en-US" sz="1600" dirty="0"/>
              <a:t>데이터 정보를 미리 학습</a:t>
            </a:r>
            <a:r>
              <a:rPr lang="en-US" altLang="ko-KR" sz="1600" dirty="0"/>
              <a:t>.</a:t>
            </a:r>
          </a:p>
          <a:p>
            <a:pPr algn="ctr"/>
            <a:r>
              <a:rPr lang="ko-KR" altLang="en-US" sz="1600" dirty="0">
                <a:solidFill>
                  <a:srgbClr val="FF0000"/>
                </a:solidFill>
              </a:rPr>
              <a:t>외운 정답을 도출</a:t>
            </a:r>
            <a:endParaRPr lang="en-US" altLang="ko-KR" sz="1600" dirty="0">
              <a:solidFill>
                <a:srgbClr val="FF0000"/>
              </a:solidFill>
            </a:endParaRPr>
          </a:p>
          <a:p>
            <a:pPr algn="ctr"/>
            <a:endParaRPr lang="en-US" altLang="ko-KR" dirty="0"/>
          </a:p>
          <a:p>
            <a:pPr algn="ctr"/>
            <a:endParaRPr lang="en-US" altLang="ko-KR" dirty="0"/>
          </a:p>
          <a:p>
            <a:pPr algn="ctr"/>
            <a:r>
              <a:rPr lang="en-US" altLang="ko-KR" dirty="0"/>
              <a:t>VS</a:t>
            </a:r>
          </a:p>
          <a:p>
            <a:pPr algn="ctr"/>
            <a:endParaRPr lang="en-US" altLang="ko-KR" dirty="0"/>
          </a:p>
          <a:p>
            <a:pPr algn="ctr"/>
            <a:r>
              <a:rPr lang="ko-KR" altLang="en-US" b="1" dirty="0"/>
              <a:t>갤럭시와 </a:t>
            </a:r>
            <a:r>
              <a:rPr lang="ko-KR" altLang="en-US" b="1" dirty="0" err="1"/>
              <a:t>아이폰들</a:t>
            </a:r>
            <a:endParaRPr lang="en-US" altLang="ko-KR" b="1" dirty="0"/>
          </a:p>
          <a:p>
            <a:pPr algn="ctr"/>
            <a:endParaRPr lang="en-US" altLang="ko-KR" dirty="0"/>
          </a:p>
          <a:p>
            <a:pPr algn="ctr"/>
            <a:r>
              <a:rPr lang="ko-KR" altLang="en-US" dirty="0"/>
              <a:t>모델이 학습을 시작하기 전</a:t>
            </a:r>
            <a:r>
              <a:rPr lang="en-US" altLang="ko-KR" dirty="0"/>
              <a:t>, </a:t>
            </a:r>
          </a:p>
          <a:p>
            <a:pPr algn="ctr"/>
            <a:r>
              <a:rPr lang="ko-KR" altLang="en-US" dirty="0"/>
              <a:t>모든 모델링 과정 직전에 </a:t>
            </a:r>
            <a:endParaRPr lang="en-US" altLang="ko-KR" dirty="0"/>
          </a:p>
          <a:p>
            <a:pPr algn="ctr"/>
            <a:r>
              <a:rPr lang="ko-KR" altLang="en-US" dirty="0"/>
              <a:t>데이터를 철저히 분리</a:t>
            </a:r>
            <a:r>
              <a:rPr lang="en-US" altLang="ko-KR" dirty="0"/>
              <a:t>.</a:t>
            </a:r>
          </a:p>
          <a:p>
            <a:pPr algn="ctr"/>
            <a:r>
              <a:rPr lang="ko-KR" altLang="en-US" b="1" dirty="0">
                <a:solidFill>
                  <a:srgbClr val="002060"/>
                </a:solidFill>
              </a:rPr>
              <a:t>모델이 처음 본 데이터도 충분히 예측</a:t>
            </a:r>
            <a:r>
              <a:rPr lang="en-US" altLang="ko-KR" b="1" dirty="0">
                <a:solidFill>
                  <a:srgbClr val="002060"/>
                </a:solidFill>
              </a:rPr>
              <a:t> </a:t>
            </a:r>
            <a:r>
              <a:rPr lang="ko-KR" altLang="en-US" b="1" dirty="0">
                <a:solidFill>
                  <a:srgbClr val="002060"/>
                </a:solidFill>
              </a:rPr>
              <a:t>가능</a:t>
            </a:r>
            <a:endParaRPr lang="en-US" altLang="ko-KR" b="1" dirty="0">
              <a:solidFill>
                <a:srgbClr val="002060"/>
              </a:solidFill>
            </a:endParaRPr>
          </a:p>
        </p:txBody>
      </p:sp>
      <p:sp>
        <p:nvSpPr>
          <p:cNvPr id="7" name="TextBox 6">
            <a:extLst>
              <a:ext uri="{FF2B5EF4-FFF2-40B4-BE49-F238E27FC236}">
                <a16:creationId xmlns:a16="http://schemas.microsoft.com/office/drawing/2014/main" id="{0A3417B2-30DC-6501-10DE-BEAE93FB2452}"/>
              </a:ext>
            </a:extLst>
          </p:cNvPr>
          <p:cNvSpPr txBox="1"/>
          <p:nvPr/>
        </p:nvSpPr>
        <p:spPr>
          <a:xfrm>
            <a:off x="4405472" y="979056"/>
            <a:ext cx="3381054" cy="523220"/>
          </a:xfrm>
          <a:prstGeom prst="rect">
            <a:avLst/>
          </a:prstGeom>
          <a:noFill/>
        </p:spPr>
        <p:txBody>
          <a:bodyPr wrap="none" rtlCol="0">
            <a:spAutoFit/>
          </a:bodyPr>
          <a:lstStyle/>
          <a:p>
            <a:r>
              <a:rPr lang="en-US" altLang="ko-KR" sz="2800" b="1" dirty="0"/>
              <a:t>2. </a:t>
            </a:r>
            <a:r>
              <a:rPr lang="ko-KR" altLang="en-US" sz="2800" b="1" dirty="0"/>
              <a:t>데이터 누수 여부</a:t>
            </a:r>
          </a:p>
        </p:txBody>
      </p:sp>
    </p:spTree>
    <p:extLst>
      <p:ext uri="{BB962C8B-B14F-4D97-AF65-F5344CB8AC3E}">
        <p14:creationId xmlns:p14="http://schemas.microsoft.com/office/powerpoint/2010/main" val="3098774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7B77C-5736-25B4-B8C5-382BD992ECBB}"/>
            </a:ext>
          </a:extLst>
        </p:cNvPr>
        <p:cNvGrpSpPr/>
        <p:nvPr/>
      </p:nvGrpSpPr>
      <p:grpSpPr>
        <a:xfrm>
          <a:off x="0" y="0"/>
          <a:ext cx="0" cy="0"/>
          <a:chOff x="0" y="0"/>
          <a:chExt cx="0" cy="0"/>
        </a:xfrm>
      </p:grpSpPr>
      <p:grpSp>
        <p:nvGrpSpPr>
          <p:cNvPr id="12" name="그룹 11">
            <a:extLst>
              <a:ext uri="{FF2B5EF4-FFF2-40B4-BE49-F238E27FC236}">
                <a16:creationId xmlns:a16="http://schemas.microsoft.com/office/drawing/2014/main" id="{9562981C-30B5-B156-AFED-654B00894F5F}"/>
              </a:ext>
            </a:extLst>
          </p:cNvPr>
          <p:cNvGrpSpPr/>
          <p:nvPr/>
        </p:nvGrpSpPr>
        <p:grpSpPr>
          <a:xfrm>
            <a:off x="6972485" y="617365"/>
            <a:ext cx="4785405" cy="4351800"/>
            <a:chOff x="2271178" y="118600"/>
            <a:chExt cx="7649643" cy="6620799"/>
          </a:xfrm>
        </p:grpSpPr>
        <p:pic>
          <p:nvPicPr>
            <p:cNvPr id="13" name="그림 12">
              <a:extLst>
                <a:ext uri="{FF2B5EF4-FFF2-40B4-BE49-F238E27FC236}">
                  <a16:creationId xmlns:a16="http://schemas.microsoft.com/office/drawing/2014/main" id="{4E7C7089-CE10-3D7D-FF34-6845C60E1A78}"/>
                </a:ext>
              </a:extLst>
            </p:cNvPr>
            <p:cNvPicPr>
              <a:picLocks noChangeAspect="1"/>
            </p:cNvPicPr>
            <p:nvPr/>
          </p:nvPicPr>
          <p:blipFill>
            <a:blip r:embed="rId2"/>
            <a:stretch>
              <a:fillRect/>
            </a:stretch>
          </p:blipFill>
          <p:spPr>
            <a:xfrm>
              <a:off x="2271178" y="118600"/>
              <a:ext cx="7649643" cy="6620799"/>
            </a:xfrm>
            <a:prstGeom prst="rect">
              <a:avLst/>
            </a:prstGeom>
          </p:spPr>
        </p:pic>
        <p:sp>
          <p:nvSpPr>
            <p:cNvPr id="14" name="직사각형 13">
              <a:extLst>
                <a:ext uri="{FF2B5EF4-FFF2-40B4-BE49-F238E27FC236}">
                  <a16:creationId xmlns:a16="http://schemas.microsoft.com/office/drawing/2014/main" id="{5ACE91B6-E2B6-6F94-90EF-C4625E7F984D}"/>
                </a:ext>
              </a:extLst>
            </p:cNvPr>
            <p:cNvSpPr/>
            <p:nvPr/>
          </p:nvSpPr>
          <p:spPr>
            <a:xfrm>
              <a:off x="2484120" y="2087418"/>
              <a:ext cx="5516880" cy="16768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TextBox 14">
            <a:extLst>
              <a:ext uri="{FF2B5EF4-FFF2-40B4-BE49-F238E27FC236}">
                <a16:creationId xmlns:a16="http://schemas.microsoft.com/office/drawing/2014/main" id="{179EE1EB-FF91-4541-40E6-AA0E4A2AFAF8}"/>
              </a:ext>
            </a:extLst>
          </p:cNvPr>
          <p:cNvSpPr txBox="1"/>
          <p:nvPr/>
        </p:nvSpPr>
        <p:spPr>
          <a:xfrm>
            <a:off x="6972484" y="5357180"/>
            <a:ext cx="4785405" cy="369332"/>
          </a:xfrm>
          <a:prstGeom prst="rect">
            <a:avLst/>
          </a:prstGeom>
          <a:noFill/>
        </p:spPr>
        <p:txBody>
          <a:bodyPr wrap="square" rtlCol="0">
            <a:spAutoFit/>
          </a:bodyPr>
          <a:lstStyle/>
          <a:p>
            <a:pPr algn="ctr"/>
            <a:r>
              <a:rPr lang="ko-KR" altLang="en-US" b="1" dirty="0" err="1"/>
              <a:t>전처리</a:t>
            </a:r>
            <a:r>
              <a:rPr lang="ko-KR" altLang="en-US" b="1" dirty="0"/>
              <a:t> 전 데이터 분리가 된 모습</a:t>
            </a:r>
            <a:r>
              <a:rPr lang="en-US" altLang="ko-KR" b="1" dirty="0"/>
              <a:t>.</a:t>
            </a:r>
            <a:endParaRPr lang="ko-KR" altLang="en-US" dirty="0"/>
          </a:p>
        </p:txBody>
      </p:sp>
      <p:grpSp>
        <p:nvGrpSpPr>
          <p:cNvPr id="21" name="그룹 20">
            <a:extLst>
              <a:ext uri="{FF2B5EF4-FFF2-40B4-BE49-F238E27FC236}">
                <a16:creationId xmlns:a16="http://schemas.microsoft.com/office/drawing/2014/main" id="{7AB69DD2-9D1F-6A51-1FFA-B9A1FB322AF1}"/>
              </a:ext>
            </a:extLst>
          </p:cNvPr>
          <p:cNvGrpSpPr/>
          <p:nvPr/>
        </p:nvGrpSpPr>
        <p:grpSpPr>
          <a:xfrm>
            <a:off x="539342" y="617365"/>
            <a:ext cx="4238546" cy="5047678"/>
            <a:chOff x="299197" y="617365"/>
            <a:chExt cx="4238546" cy="5047678"/>
          </a:xfrm>
        </p:grpSpPr>
        <p:pic>
          <p:nvPicPr>
            <p:cNvPr id="17" name="그림 16">
              <a:extLst>
                <a:ext uri="{FF2B5EF4-FFF2-40B4-BE49-F238E27FC236}">
                  <a16:creationId xmlns:a16="http://schemas.microsoft.com/office/drawing/2014/main" id="{9650E2B4-0FA0-1EE2-C82B-07A57E25E79D}"/>
                </a:ext>
              </a:extLst>
            </p:cNvPr>
            <p:cNvPicPr>
              <a:picLocks noChangeAspect="1"/>
            </p:cNvPicPr>
            <p:nvPr/>
          </p:nvPicPr>
          <p:blipFill>
            <a:blip r:embed="rId3"/>
            <a:stretch>
              <a:fillRect/>
            </a:stretch>
          </p:blipFill>
          <p:spPr>
            <a:xfrm>
              <a:off x="299197" y="617365"/>
              <a:ext cx="4238546" cy="3760671"/>
            </a:xfrm>
            <a:prstGeom prst="rect">
              <a:avLst/>
            </a:prstGeom>
          </p:spPr>
        </p:pic>
        <p:pic>
          <p:nvPicPr>
            <p:cNvPr id="19" name="그림 18">
              <a:extLst>
                <a:ext uri="{FF2B5EF4-FFF2-40B4-BE49-F238E27FC236}">
                  <a16:creationId xmlns:a16="http://schemas.microsoft.com/office/drawing/2014/main" id="{A97D7B6F-6FB7-045A-F593-7EE78CF18C68}"/>
                </a:ext>
              </a:extLst>
            </p:cNvPr>
            <p:cNvPicPr>
              <a:picLocks noChangeAspect="1"/>
            </p:cNvPicPr>
            <p:nvPr/>
          </p:nvPicPr>
          <p:blipFill>
            <a:blip r:embed="rId4"/>
            <a:stretch>
              <a:fillRect/>
            </a:stretch>
          </p:blipFill>
          <p:spPr>
            <a:xfrm>
              <a:off x="299197" y="4848334"/>
              <a:ext cx="4238546" cy="816709"/>
            </a:xfrm>
            <a:prstGeom prst="rect">
              <a:avLst/>
            </a:prstGeom>
          </p:spPr>
        </p:pic>
        <p:sp>
          <p:nvSpPr>
            <p:cNvPr id="20" name="TextBox 19">
              <a:extLst>
                <a:ext uri="{FF2B5EF4-FFF2-40B4-BE49-F238E27FC236}">
                  <a16:creationId xmlns:a16="http://schemas.microsoft.com/office/drawing/2014/main" id="{696DD2E3-30D5-9030-0AA6-2021DE921FD4}"/>
                </a:ext>
              </a:extLst>
            </p:cNvPr>
            <p:cNvSpPr txBox="1"/>
            <p:nvPr/>
          </p:nvSpPr>
          <p:spPr>
            <a:xfrm>
              <a:off x="299197" y="4378036"/>
              <a:ext cx="4238546" cy="369332"/>
            </a:xfrm>
            <a:prstGeom prst="rect">
              <a:avLst/>
            </a:prstGeom>
            <a:noFill/>
          </p:spPr>
          <p:txBody>
            <a:bodyPr wrap="square" rtlCol="0">
              <a:spAutoFit/>
            </a:bodyPr>
            <a:lstStyle/>
            <a:p>
              <a:pPr algn="ctr"/>
              <a:r>
                <a:rPr lang="en-US" altLang="ko-KR" dirty="0"/>
                <a:t>…</a:t>
              </a:r>
              <a:endParaRPr lang="ko-KR" altLang="en-US" dirty="0"/>
            </a:p>
          </p:txBody>
        </p:sp>
      </p:grpSp>
      <p:sp>
        <p:nvSpPr>
          <p:cNvPr id="23" name="Rectangle 1">
            <a:extLst>
              <a:ext uri="{FF2B5EF4-FFF2-40B4-BE49-F238E27FC236}">
                <a16:creationId xmlns:a16="http://schemas.microsoft.com/office/drawing/2014/main" id="{2CEBC4F4-2714-866F-EB17-9DDBBD53A737}"/>
              </a:ext>
            </a:extLst>
          </p:cNvPr>
          <p:cNvSpPr>
            <a:spLocks noChangeArrowheads="1"/>
          </p:cNvSpPr>
          <p:nvPr/>
        </p:nvSpPr>
        <p:spPr bwMode="auto">
          <a:xfrm>
            <a:off x="539342" y="5773726"/>
            <a:ext cx="42385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effectLst/>
                <a:latin typeface="Arial" panose="020B0604020202020204" pitchFamily="34" charset="0"/>
              </a:rPr>
              <a:t>이 코드는 </a:t>
            </a:r>
            <a:r>
              <a:rPr kumimoji="0" lang="ko-KR" altLang="ko-KR" b="1" i="0" u="none" strike="noStrike" cap="none" normalizeH="0" baseline="0" dirty="0" err="1">
                <a:ln>
                  <a:noFill/>
                </a:ln>
                <a:effectLst/>
                <a:latin typeface="Arial Unicode MS"/>
              </a:rPr>
              <a:t>train_test_split</a:t>
            </a:r>
            <a:r>
              <a:rPr lang="en-US" altLang="ko-KR" b="1" dirty="0">
                <a:latin typeface="Arial Unicode MS"/>
              </a:rPr>
              <a:t> </a:t>
            </a:r>
            <a:r>
              <a:rPr kumimoji="0" lang="ko-KR" altLang="ko-KR" i="0" u="none" strike="noStrike" cap="none" normalizeH="0" baseline="0" dirty="0">
                <a:ln>
                  <a:noFill/>
                </a:ln>
                <a:effectLst/>
              </a:rPr>
              <a:t>이</a:t>
            </a:r>
            <a:endParaRPr kumimoji="0" lang="en-US" altLang="ko-KR" i="0" u="none" strike="noStrike" cap="none" normalizeH="0" baseline="0" dirty="0">
              <a:ln>
                <a:noFill/>
              </a:ln>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ko-KR" altLang="ko-KR" i="0" u="none" strike="noStrike" cap="none" normalizeH="0" baseline="0" dirty="0">
                <a:ln>
                  <a:noFill/>
                </a:ln>
                <a:effectLst/>
              </a:rPr>
              <a:t>나오기 훨씬 전</a:t>
            </a:r>
            <a:r>
              <a:rPr kumimoji="0" lang="ko-KR" altLang="ko-KR" i="0" u="none" strike="noStrike" cap="none" normalizeH="0" baseline="0" dirty="0">
                <a:ln>
                  <a:noFill/>
                </a:ln>
                <a:effectLst/>
                <a:latin typeface="Arial" panose="020B0604020202020204" pitchFamily="34" charset="0"/>
              </a:rPr>
              <a:t>에 실행</a:t>
            </a:r>
            <a:r>
              <a:rPr kumimoji="0" lang="ko-KR" altLang="en-US" i="0" u="none" strike="noStrike" cap="none" normalizeH="0" baseline="0" dirty="0">
                <a:ln>
                  <a:noFill/>
                </a:ln>
                <a:effectLst/>
                <a:latin typeface="Arial" panose="020B0604020202020204" pitchFamily="34" charset="0"/>
              </a:rPr>
              <a:t>됨</a:t>
            </a:r>
            <a:r>
              <a:rPr kumimoji="0" lang="en-US" altLang="ko-KR" i="0" u="none" strike="noStrike" cap="none" normalizeH="0" baseline="0" dirty="0">
                <a:ln>
                  <a:noFill/>
                </a:ln>
                <a:effectLst/>
                <a:latin typeface="Arial" panose="020B0604020202020204" pitchFamily="34" charset="0"/>
              </a:rPr>
              <a:t>.</a:t>
            </a:r>
            <a:endParaRPr kumimoji="0" lang="ko-KR" altLang="ko-KR" i="0" u="none" strike="noStrike" cap="none" normalizeH="0" baseline="0" dirty="0">
              <a:ln>
                <a:noFill/>
              </a:ln>
              <a:effectLst/>
              <a:latin typeface="Arial" panose="020B0604020202020204" pitchFamily="34" charset="0"/>
            </a:endParaRPr>
          </a:p>
        </p:txBody>
      </p:sp>
      <p:sp>
        <p:nvSpPr>
          <p:cNvPr id="26" name="TextBox 25">
            <a:extLst>
              <a:ext uri="{FF2B5EF4-FFF2-40B4-BE49-F238E27FC236}">
                <a16:creationId xmlns:a16="http://schemas.microsoft.com/office/drawing/2014/main" id="{B36B091D-8DCA-4E03-1B3A-ABE25783FBB5}"/>
              </a:ext>
            </a:extLst>
          </p:cNvPr>
          <p:cNvSpPr txBox="1"/>
          <p:nvPr/>
        </p:nvSpPr>
        <p:spPr>
          <a:xfrm>
            <a:off x="539343" y="147067"/>
            <a:ext cx="4238546" cy="369332"/>
          </a:xfrm>
          <a:prstGeom prst="rect">
            <a:avLst/>
          </a:prstGeom>
          <a:noFill/>
        </p:spPr>
        <p:txBody>
          <a:bodyPr wrap="square" rtlCol="0">
            <a:spAutoFit/>
          </a:bodyPr>
          <a:lstStyle/>
          <a:p>
            <a:pPr algn="ctr"/>
            <a:r>
              <a:rPr lang="en-US" altLang="ko-KR" dirty="0"/>
              <a:t>99percent </a:t>
            </a:r>
            <a:r>
              <a:rPr lang="ko-KR" altLang="en-US" dirty="0"/>
              <a:t>모델</a:t>
            </a:r>
          </a:p>
        </p:txBody>
      </p:sp>
      <p:sp>
        <p:nvSpPr>
          <p:cNvPr id="27" name="TextBox 26">
            <a:extLst>
              <a:ext uri="{FF2B5EF4-FFF2-40B4-BE49-F238E27FC236}">
                <a16:creationId xmlns:a16="http://schemas.microsoft.com/office/drawing/2014/main" id="{15D871BB-CCBC-6F3D-6ECB-972D49420188}"/>
              </a:ext>
            </a:extLst>
          </p:cNvPr>
          <p:cNvSpPr txBox="1"/>
          <p:nvPr/>
        </p:nvSpPr>
        <p:spPr>
          <a:xfrm>
            <a:off x="6972486" y="147067"/>
            <a:ext cx="4785404" cy="369332"/>
          </a:xfrm>
          <a:prstGeom prst="rect">
            <a:avLst/>
          </a:prstGeom>
          <a:noFill/>
        </p:spPr>
        <p:txBody>
          <a:bodyPr wrap="square" rtlCol="0">
            <a:spAutoFit/>
          </a:bodyPr>
          <a:lstStyle/>
          <a:p>
            <a:pPr algn="ctr"/>
            <a:r>
              <a:rPr lang="ko-KR" altLang="en-US" dirty="0"/>
              <a:t>갤럭시와 </a:t>
            </a:r>
            <a:r>
              <a:rPr lang="ko-KR" altLang="en-US" dirty="0" err="1"/>
              <a:t>아이폰들</a:t>
            </a:r>
            <a:endParaRPr lang="ko-KR" altLang="en-US" dirty="0"/>
          </a:p>
        </p:txBody>
      </p:sp>
    </p:spTree>
    <p:extLst>
      <p:ext uri="{BB962C8B-B14F-4D97-AF65-F5344CB8AC3E}">
        <p14:creationId xmlns:p14="http://schemas.microsoft.com/office/powerpoint/2010/main" val="25623758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DD9A-CBCE-4B15-47B5-D96ED36234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3CC5C8-C864-728B-8C29-E458E188E8E0}"/>
              </a:ext>
            </a:extLst>
          </p:cNvPr>
          <p:cNvSpPr txBox="1"/>
          <p:nvPr/>
        </p:nvSpPr>
        <p:spPr>
          <a:xfrm>
            <a:off x="4927154" y="2705725"/>
            <a:ext cx="2337691" cy="1446550"/>
          </a:xfrm>
          <a:prstGeom prst="rect">
            <a:avLst/>
          </a:prstGeom>
          <a:noFill/>
        </p:spPr>
        <p:txBody>
          <a:bodyPr wrap="none" rtlCol="0">
            <a:spAutoFit/>
          </a:bodyPr>
          <a:lstStyle/>
          <a:p>
            <a:pPr algn="ctr"/>
            <a:r>
              <a:rPr lang="en-US" altLang="ko-KR" sz="3200" b="1" dirty="0"/>
              <a:t>Thank You.</a:t>
            </a:r>
          </a:p>
          <a:p>
            <a:pPr algn="ctr"/>
            <a:endParaRPr lang="en-US" altLang="ko-KR" sz="3200" dirty="0"/>
          </a:p>
          <a:p>
            <a:pPr algn="ctr"/>
            <a:r>
              <a:rPr lang="ko-KR" altLang="en-US" sz="2400" dirty="0"/>
              <a:t>감사합니다</a:t>
            </a:r>
            <a:r>
              <a:rPr lang="en-US" altLang="ko-KR" sz="2400" dirty="0"/>
              <a:t>.</a:t>
            </a:r>
            <a:endParaRPr lang="ko-KR" altLang="en-US" sz="2400" dirty="0"/>
          </a:p>
        </p:txBody>
      </p:sp>
    </p:spTree>
    <p:extLst>
      <p:ext uri="{BB962C8B-B14F-4D97-AF65-F5344CB8AC3E}">
        <p14:creationId xmlns:p14="http://schemas.microsoft.com/office/powerpoint/2010/main" val="247565147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1011</TotalTime>
  <Words>520</Words>
  <Application>Microsoft Office PowerPoint</Application>
  <PresentationFormat>와이드스크린</PresentationFormat>
  <Paragraphs>122</Paragraphs>
  <Slides>53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53</vt:i4>
      </vt:variant>
    </vt:vector>
  </HeadingPairs>
  <TitlesOfParts>
    <vt:vector size="57" baseType="lpstr">
      <vt:lpstr>Arial Unicode MS</vt:lpstr>
      <vt:lpstr>맑은 고딕</vt:lpstr>
      <vt:lpstr>Arial</vt:lpstr>
      <vt:lpstr>Office 테마</vt:lpstr>
      <vt:lpstr>보험료 데이터 분석 및 보험료 예측 모델링</vt:lpstr>
      <vt:lpstr>목차</vt:lpstr>
      <vt:lpstr>데이터 셋이 바뀐 이유</vt:lpstr>
      <vt:lpstr>데이터 분석    </vt:lpstr>
      <vt:lpstr>PowerPoint 프레젠테이션</vt:lpstr>
      <vt:lpstr>PowerPoint 프레젠테이션</vt:lpstr>
      <vt:lpstr>charges/bmi/age/smoke 산점도 한눈에 보기</vt:lpstr>
      <vt:lpstr>PowerPoint 프레젠테이션</vt:lpstr>
      <vt:lpstr>각 수치형특성 분포도 확인</vt:lpstr>
      <vt:lpstr>PowerPoint 프레젠테이션</vt:lpstr>
      <vt:lpstr>smoker / non_smoker 한눈에 보기 histplot이용하여 시각화</vt:lpstr>
      <vt:lpstr>PowerPoint 프레젠테이션</vt:lpstr>
      <vt:lpstr>children 과 charges를 흡연자/비흡연자로 구분하여 확인하기</vt:lpstr>
      <vt:lpstr>PowerPoint 프레젠테이션</vt:lpstr>
      <vt:lpstr>PowerPoint 프레젠테이션</vt:lpstr>
      <vt:lpstr>age/bmi 산점도와 회귀선</vt:lpstr>
      <vt:lpstr>PowerPoint 프레젠테이션</vt:lpstr>
      <vt:lpstr>pairplot 으로 비흡연자만 각 컬럼별 시각화</vt:lpstr>
      <vt:lpstr>PowerPoint 프레젠테이션</vt:lpstr>
      <vt:lpstr>비흡연자만 age/bmi/children/charges 분포 확인하기</vt:lpstr>
      <vt:lpstr>PowerPoint 프레젠테이션</vt:lpstr>
      <vt:lpstr>age/charges를 bmi30기준으로 나눈 산점도</vt:lpstr>
      <vt:lpstr>PowerPoint 프레젠테이션</vt:lpstr>
      <vt:lpstr>데이터 전처리 및 모델링</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데이터 세분화, 전처리와 모델링</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주의할 점!  해당 모델은 해당 데이터만로 분석이 힘든 이상치를 최대한 제거한 후 학습한 모델로 평균적인 보험료를 예측하는 모델임  이상치를 처음에 제거하는 것으로 특별한 사람들의 보험료를 예측하는 성적은 떨어지는 단점이 있으나, 데이터셋 만을 가지고 파악하기 힘든 요인을 제거하여 학습을 진행 평균적인 보험료를 예측하는데 중점을 둠 </vt:lpstr>
      <vt:lpstr>PowerPoint 프레젠테이션</vt:lpstr>
      <vt:lpstr>PowerPoint 프레젠테이션</vt:lpstr>
      <vt:lpstr>다른 모델과의 비교</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박효준</dc:creator>
  <cp:lastModifiedBy>USER</cp:lastModifiedBy>
  <cp:revision>4</cp:revision>
  <dcterms:created xsi:type="dcterms:W3CDTF">2026-02-12T00:04:22Z</dcterms:created>
  <dcterms:modified xsi:type="dcterms:W3CDTF">2026-02-12T17:10:03Z</dcterms:modified>
</cp:coreProperties>
</file>